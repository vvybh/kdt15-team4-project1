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ae5de05dbdf404e" /><Relationship Type="http://schemas.openxmlformats.org/officeDocument/2006/relationships/extended-properties" Target="/docProps/app.xml" Id="R60c38b76156049b4" /><Relationship Type="http://schemas.openxmlformats.org/officeDocument/2006/relationships/officeDocument" Target="/ppt/presentation.xml" Id="R027ea0c32d2f464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93d1fdbac0f49a6"/>
  </p:sldMasterIdLst>
  <p:notesMasterIdLst>
    <p:notesMasterId xmlns:r="http://schemas.openxmlformats.org/officeDocument/2006/relationships" r:id="Rac9ef593b4d444bf"/>
  </p:notesMasterIdLst>
  <p:sldIdLst>
    <p:sldId xmlns:r="http://schemas.openxmlformats.org/officeDocument/2006/relationships" id="256" r:id="Rdf955a5062c14015"/>
    <p:sldId xmlns:r="http://schemas.openxmlformats.org/officeDocument/2006/relationships" id="257" r:id="R39bffbf4d5c545a3"/>
    <p:sldId xmlns:r="http://schemas.openxmlformats.org/officeDocument/2006/relationships" id="258" r:id="Rc2519613d0774339"/>
    <p:sldId xmlns:r="http://schemas.openxmlformats.org/officeDocument/2006/relationships" id="259" r:id="R3dd7cb36ddc0417b"/>
    <p:sldId xmlns:r="http://schemas.openxmlformats.org/officeDocument/2006/relationships" id="260" r:id="Rbbf1a709ce2846c3"/>
    <p:sldId xmlns:r="http://schemas.openxmlformats.org/officeDocument/2006/relationships" id="261" r:id="R7fb91b63ff92491d"/>
    <p:sldId xmlns:r="http://schemas.openxmlformats.org/officeDocument/2006/relationships" id="262" r:id="Rab9c60ffcec04fbb"/>
    <p:sldId xmlns:r="http://schemas.openxmlformats.org/officeDocument/2006/relationships" id="263" r:id="R05a8840b07d246a4"/>
    <p:sldId xmlns:r="http://schemas.openxmlformats.org/officeDocument/2006/relationships" id="264" r:id="Rd105b8e2115440a0"/>
    <p:sldId xmlns:r="http://schemas.openxmlformats.org/officeDocument/2006/relationships" id="265" r:id="R22ba7a08e0714bcb"/>
    <p:sldId xmlns:r="http://schemas.openxmlformats.org/officeDocument/2006/relationships" id="266" r:id="R6bfa9f9a00414907"/>
    <p:sldId xmlns:r="http://schemas.openxmlformats.org/officeDocument/2006/relationships" id="267" r:id="Rbdf8f3cd37a14fa4"/>
    <p:sldId xmlns:r="http://schemas.openxmlformats.org/officeDocument/2006/relationships" id="268" r:id="R78eb89bb1baa47b9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93d1fdbac0f49a6" /><Relationship Type="http://schemas.openxmlformats.org/officeDocument/2006/relationships/theme" Target="/ppt/theme/theme1.xml" Id="R9610c658107c443f" /><Relationship Type="http://schemas.openxmlformats.org/officeDocument/2006/relationships/notesMaster" Target="/ppt/notesMasters/notesMaster1.xml" Id="Rac9ef593b4d444bf" /><Relationship Type="http://schemas.openxmlformats.org/officeDocument/2006/relationships/presProps" Target="/ppt/presProps.xml" Id="Rac0c1a156b574975" /><Relationship Type="http://schemas.openxmlformats.org/officeDocument/2006/relationships/viewProps" Target="/ppt/viewProps.xml" Id="Rc4d98d658ab8464a" /><Relationship Type="http://schemas.openxmlformats.org/officeDocument/2006/relationships/tableStyles" Target="/ppt/tableStyles.xml" Id="Rff1ce2e1888c4527" /><Relationship Type="http://schemas.openxmlformats.org/officeDocument/2006/relationships/slide" Target="/ppt/slides/slide1.xml" Id="Rdf955a5062c14015" /><Relationship Type="http://schemas.openxmlformats.org/officeDocument/2006/relationships/slide" Target="/ppt/slides/slide2.xml" Id="R39bffbf4d5c545a3" /><Relationship Type="http://schemas.openxmlformats.org/officeDocument/2006/relationships/slide" Target="/ppt/slides/slide3.xml" Id="Rc2519613d0774339" /><Relationship Type="http://schemas.openxmlformats.org/officeDocument/2006/relationships/slide" Target="/ppt/slides/slide4.xml" Id="R3dd7cb36ddc0417b" /><Relationship Type="http://schemas.openxmlformats.org/officeDocument/2006/relationships/slide" Target="/ppt/slides/slide5.xml" Id="Rbbf1a709ce2846c3" /><Relationship Type="http://schemas.openxmlformats.org/officeDocument/2006/relationships/slide" Target="/ppt/slides/slide6.xml" Id="R7fb91b63ff92491d" /><Relationship Type="http://schemas.openxmlformats.org/officeDocument/2006/relationships/slide" Target="/ppt/slides/slide7.xml" Id="Rab9c60ffcec04fbb" /><Relationship Type="http://schemas.openxmlformats.org/officeDocument/2006/relationships/slide" Target="/ppt/slides/slide8.xml" Id="R05a8840b07d246a4" /><Relationship Type="http://schemas.openxmlformats.org/officeDocument/2006/relationships/slide" Target="/ppt/slides/slide9.xml" Id="Rd105b8e2115440a0" /><Relationship Type="http://schemas.openxmlformats.org/officeDocument/2006/relationships/slide" Target="/ppt/slides/slide10.xml" Id="R22ba7a08e0714bcb" /><Relationship Type="http://schemas.openxmlformats.org/officeDocument/2006/relationships/slide" Target="/ppt/slides/slide11.xml" Id="R6bfa9f9a00414907" /><Relationship Type="http://schemas.openxmlformats.org/officeDocument/2006/relationships/slide" Target="/ppt/slides/slide12.xml" Id="Rbdf8f3cd37a14fa4" /><Relationship Type="http://schemas.openxmlformats.org/officeDocument/2006/relationships/slide" Target="/ppt/slides/slide13.xml" Id="R78eb89bb1baa47b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f959e87f335e4ab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c4ac434eb224708" /><Relationship Type="http://schemas.openxmlformats.org/officeDocument/2006/relationships/notesMaster" Target="/ppt/notesMasters/notesMaster1.xml" Id="Rc42a770232ad4e8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313526a0eab45f9" /><Relationship Type="http://schemas.openxmlformats.org/officeDocument/2006/relationships/notesMaster" Target="/ppt/notesMasters/notesMaster1.xml" Id="R16a721afab5a4e8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653929a30274990" /><Relationship Type="http://schemas.openxmlformats.org/officeDocument/2006/relationships/notesMaster" Target="/ppt/notesMasters/notesMaster1.xml" Id="R713899dbd1594cb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62b064380c3466f" /><Relationship Type="http://schemas.openxmlformats.org/officeDocument/2006/relationships/notesMaster" Target="/ppt/notesMasters/notesMaster1.xml" Id="R8637b72a9b0b443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d898d5d1e344d48" /><Relationship Type="http://schemas.openxmlformats.org/officeDocument/2006/relationships/notesMaster" Target="/ppt/notesMasters/notesMaster1.xml" Id="Rdec613d5ab984a1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1862598279347d6" /><Relationship Type="http://schemas.openxmlformats.org/officeDocument/2006/relationships/notesMaster" Target="/ppt/notesMasters/notesMaster1.xml" Id="R32f91e88a8f7407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8a7142efdd44b06" /><Relationship Type="http://schemas.openxmlformats.org/officeDocument/2006/relationships/notesMaster" Target="/ppt/notesMasters/notesMaster1.xml" Id="R8a1d18af942d489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02b9d90719049ff" /><Relationship Type="http://schemas.openxmlformats.org/officeDocument/2006/relationships/notesMaster" Target="/ppt/notesMasters/notesMaster1.xml" Id="R6bfdc44b9721465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4286f6543704ae6" /><Relationship Type="http://schemas.openxmlformats.org/officeDocument/2006/relationships/notesMaster" Target="/ppt/notesMasters/notesMaster1.xml" Id="Racaea8b8fb4344c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40a7084da564ea6" /><Relationship Type="http://schemas.openxmlformats.org/officeDocument/2006/relationships/notesMaster" Target="/ppt/notesMasters/notesMaster1.xml" Id="Re51ad648edf1429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ab038e9eded4323" /><Relationship Type="http://schemas.openxmlformats.org/officeDocument/2006/relationships/notesMaster" Target="/ppt/notesMasters/notesMaster1.xml" Id="R7e35e358edae463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d1c5d851c8e4055" /><Relationship Type="http://schemas.openxmlformats.org/officeDocument/2006/relationships/notesMaster" Target="/ppt/notesMasters/notesMaster1.xml" Id="R07359f960d6e497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cca745c292e42b5" /><Relationship Type="http://schemas.openxmlformats.org/officeDocument/2006/relationships/notesMaster" Target="/ppt/notesMasters/notesMaster1.xml" Id="R75f613e985e84d5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7c967c7a8964e17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488f2ff33aa144b4" /><Relationship Type="http://schemas.openxmlformats.org/officeDocument/2006/relationships/slideLayout" Target="/ppt/slideLayouts/slideLayout2.xml" Id="Rd2fbfa3fcb2d440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2fbfa3fcb2d440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10c139e16dd4d2f" /><Relationship Type="http://schemas.openxmlformats.org/officeDocument/2006/relationships/notesSlide" Target="/ppt/notesSlides/notesSlide1.xml" Id="R8dbc3ee2155942e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a6589c051ad4a8b" /><Relationship Type="http://schemas.openxmlformats.org/officeDocument/2006/relationships/notesSlide" Target="/ppt/notesSlides/notesSlide2.xml" Id="Rb779d9d73c844ee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8f03e383ffc4d4f" /><Relationship Type="http://schemas.openxmlformats.org/officeDocument/2006/relationships/notesSlide" Target="/ppt/notesSlides/notesSlide3.xml" Id="R9615bc13cc2644b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4017d69cfb34bd4" /><Relationship Type="http://schemas.openxmlformats.org/officeDocument/2006/relationships/notesSlide" Target="/ppt/notesSlides/notesSlide4.xml" Id="Rc94a3a195720460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0d6cb0e62ff4b0e" /><Relationship Type="http://schemas.openxmlformats.org/officeDocument/2006/relationships/notesSlide" Target="/ppt/notesSlides/notesSlide5.xml" Id="R9f868eddf9644eb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1d09dfd7dbf40aa" /><Relationship Type="http://schemas.openxmlformats.org/officeDocument/2006/relationships/notesSlide" Target="/ppt/notesSlides/notesSlide6.xml" Id="Rb24a9c6d792249b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e675858efd84802" /><Relationship Type="http://schemas.openxmlformats.org/officeDocument/2006/relationships/notesSlide" Target="/ppt/notesSlides/notesSlide7.xml" Id="R1c4a37ec4c85470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993c19453b644e2" /><Relationship Type="http://schemas.openxmlformats.org/officeDocument/2006/relationships/notesSlide" Target="/ppt/notesSlides/notesSlide8.xml" Id="R09bb21db3e8c4b1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be789daf3e44fbd" /><Relationship Type="http://schemas.openxmlformats.org/officeDocument/2006/relationships/notesSlide" Target="/ppt/notesSlides/notesSlide9.xml" Id="Rcb0cdd6401a5465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e3cb5f2625543a3" /><Relationship Type="http://schemas.openxmlformats.org/officeDocument/2006/relationships/notesSlide" Target="/ppt/notesSlides/notesSlide10.xml" Id="Rb58ee9653b244a6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e91abffc38d4a07" /><Relationship Type="http://schemas.openxmlformats.org/officeDocument/2006/relationships/notesSlide" Target="/ppt/notesSlides/notesSlide11.xml" Id="R118b33f5e7c74c9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126de92e6ce4b2c" /><Relationship Type="http://schemas.openxmlformats.org/officeDocument/2006/relationships/notesSlide" Target="/ppt/notesSlides/notesSlide12.xml" Id="R28d8add7f58c4e3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428d7a91c6542b2" /><Relationship Type="http://schemas.openxmlformats.org/officeDocument/2006/relationships/notesSlide" Target="/ppt/notesSlides/notesSlide13.xml" Id="Racf4de0e86b04704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ackground">
            <a:extLst xmlns:a="http://schemas.openxmlformats.org/drawingml/2006/main">
              <a:ext uri="{FF2B5EF4-FFF2-40B4-BE49-F238E27FC236}">
                <a16:creationId xmlns:a16="http://schemas.microsoft.com/office/drawing/2014/main" id="{C8B3C6D6-C438-48E9-8CCC-9A59AEA8C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0">
            <a:solidFill>
              <a:srgbClr val="F4F6F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CDEABB-1199-427A-B07A-773E3DB96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CF7"/>
          </a:solidFill>
          <a:ln xmlns:a="http://schemas.openxmlformats.org/drawingml/2006/main" w="0">
            <a:solidFill>
              <a:srgbClr val="FEFCF7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D8BF52-C9E8-4211-99B5-CAF9D923F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381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2A"/>
          </a:solidFill>
          <a:ln xmlns:a="http://schemas.openxmlformats.org/drawingml/2006/main" w="0">
            <a:solidFill>
              <a:srgbClr val="17202A"/>
            </a:solidFill>
            <a:prstDash val="solid"/>
          </a:ln>
        </p:spPr>
      </p:sp>
      <p:sp>
        <p:nvSpPr>
          <p:cNvPr id="4" name="cover-kicker-marker">
            <a:extLst xmlns:a="http://schemas.openxmlformats.org/drawingml/2006/main">
              <a:ext uri="{FF2B5EF4-FFF2-40B4-BE49-F238E27FC236}">
                <a16:creationId xmlns:a16="http://schemas.microsoft.com/office/drawing/2014/main" id="{04E204CE-C685-410C-BAEC-53F39AA71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8175"/>
            <a:ext cx="20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E0D2"/>
          </a:solidFill>
          <a:ln xmlns:a="http://schemas.openxmlformats.org/drawingml/2006/main" w="0">
            <a:solidFill>
              <a:srgbClr val="B8E0D2"/>
            </a:solidFill>
            <a:prstDash val="solid"/>
          </a:ln>
        </p:spPr>
      </p:sp>
      <p:sp>
        <p:nvSpPr>
          <p:cNvPr id="5" name="cover-kicker-label">
            <a:extLst xmlns:a="http://schemas.openxmlformats.org/drawingml/2006/main">
              <a:ext uri="{FF2B5EF4-FFF2-40B4-BE49-F238E27FC236}">
                <a16:creationId xmlns:a16="http://schemas.microsoft.com/office/drawing/2014/main" id="{AA25288F-A840-4230-8293-CA4AC1B8A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90550"/>
            <a:ext cx="2667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8E0D2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B8E0D2"/>
                </a:solidFill>
                <a:latin typeface="Malgun Gothic"/>
                <a:ea typeface="Malgun Gothic"/>
                <a:cs typeface="Malgun Gothic"/>
              </a:rPr>
              <a:t>TEAM PROJECT PPT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D100BF-63D0-462C-AA28-2C470D266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32385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37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경매형</a:t>
            </a:r>
          </a:p>
          <a:p xmlns:a="http://schemas.openxmlformats.org/drawingml/2006/main">
            <a:pPr algn="l">
              <a:defRPr sz="37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37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중고거래</a:t>
            </a:r>
          </a:p>
          <a:p xmlns:a="http://schemas.openxmlformats.org/drawingml/2006/main">
            <a:pPr algn="l">
              <a:defRPr sz="37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37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웹사이트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042F84-ED83-40EA-AE16-764BA372D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3048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DE7E3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DDE7E3"/>
                </a:solidFill>
                <a:latin typeface="Malgun Gothic"/>
                <a:ea typeface="Malgun Gothic"/>
                <a:cs typeface="Malgun Gothic"/>
              </a:rPr>
              <a:t>시세 그래프는 별도 기능이 아니라 판매와 구매 판단을 돕는 화면 요소입니다.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17BA16-17AC-416C-8895-3A97F6449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29300"/>
            <a:ext cx="2381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8C6C1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B8C6C1"/>
                </a:solidFill>
                <a:latin typeface="Malgun Gothic"/>
                <a:ea typeface="Malgun Gothic"/>
                <a:cs typeface="Malgun Gothic"/>
              </a:rPr>
              <a:t>10분 발표용 | 13장 구성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FB2367-8F9F-421C-A21B-2C3213395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666750"/>
            <a:ext cx="5810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경매 흐름 안에서</a:t>
            </a:r>
          </a:p>
          <a:p xmlns:a="http://schemas.openxmlformats.org/drawingml/2006/main">
            <a:pPr algn="l">
              <a:defRPr sz="2550" b="1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가격 결정을 돕습니다.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E6DDB7-451B-42E6-B3FB-ABFC12C21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1581150"/>
            <a:ext cx="5334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판매자는 시작가를 정하고, 구매자는 입찰 여부를 판단하며, 낙찰 뒤에는 관리자 검수 상태를 확인합니다.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6BC08D-5EB2-49CD-ADFD-0DA89FC6B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286000"/>
            <a:ext cx="1238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4E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1082B9-AE08-46CF-9283-C71D338AC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4193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5F48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0F5F48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9624BEC-CA5A-4334-B78D-D391A2432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447925"/>
            <a:ext cx="723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판매 등록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647B42E-B401-4157-B702-554E892BA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781300"/>
            <a:ext cx="914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시세 확인 후 시작가 설정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73AEA8E-F287-4EA6-8DEC-CCA747979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743200"/>
            <a:ext cx="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A5C"/>
          </a:solidFill>
          <a:ln xmlns:a="http://schemas.openxmlformats.org/drawingml/2006/main" w="0">
            <a:solidFill>
              <a:srgbClr val="147A5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1474A4-5DFC-4265-BA4E-D9DEA1B64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619375"/>
            <a:ext cx="228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47A5C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47A5C"/>
                </a:solidFill>
                <a:latin typeface="Malgun Gothic"/>
                <a:ea typeface="Malgun Gothic"/>
                <a:cs typeface="Malgun Gothic"/>
              </a:rPr>
              <a:t>&gt;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07DA405-A156-47D9-8785-925251A4E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286000"/>
            <a:ext cx="1238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85BC386-A9A9-4CFB-9794-252985E5C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4193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A810810-53D2-42F9-8563-992358E52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447925"/>
            <a:ext cx="723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입찰 참여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F50F85D-A0D4-475D-91FC-1B6D09FC4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781300"/>
            <a:ext cx="914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현재가와 시세 비교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6B098DC-6D5C-4255-B4BA-2B95ABEDC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743200"/>
            <a:ext cx="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A5C"/>
          </a:solidFill>
          <a:ln xmlns:a="http://schemas.openxmlformats.org/drawingml/2006/main" w="0">
            <a:solidFill>
              <a:srgbClr val="147A5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669F11B-885F-44F0-AC07-C9205B209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619375"/>
            <a:ext cx="228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47A5C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47A5C"/>
                </a:solidFill>
                <a:latin typeface="Malgun Gothic"/>
                <a:ea typeface="Malgun Gothic"/>
                <a:cs typeface="Malgun Gothic"/>
              </a:rPr>
              <a:t>&gt;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5E7CE00-34B5-46A5-80C6-A54911122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286000"/>
            <a:ext cx="1238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0319C63-76F0-45BB-AD24-1AB55F47D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4193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2514B0D-42DD-4245-B0F5-EC5AEED6E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447925"/>
            <a:ext cx="723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낙찰 확인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1591A8E-87BB-4FAA-A2BB-FE12767A9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781300"/>
            <a:ext cx="914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최고 입찰가 확인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090D17F-EC10-44A7-8F65-C137BC7ED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743200"/>
            <a:ext cx="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A5C"/>
          </a:solidFill>
          <a:ln xmlns:a="http://schemas.openxmlformats.org/drawingml/2006/main" w="0">
            <a:solidFill>
              <a:srgbClr val="147A5C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234A630-CAE1-4C47-AE5D-1C0152E6D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619375"/>
            <a:ext cx="228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47A5C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47A5C"/>
                </a:solidFill>
                <a:latin typeface="Malgun Gothic"/>
                <a:ea typeface="Malgun Gothic"/>
                <a:cs typeface="Malgun Gothic"/>
              </a:rPr>
              <a:t>&gt;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022EED1-037C-4CD8-AA3E-EA168CBB3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286000"/>
            <a:ext cx="1238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7537B97-6F74-49E6-BBCE-33C0D69F6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4193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91325AF-E584-4FA6-B4F9-1F3E9FDE7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2447925"/>
            <a:ext cx="723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관리자 검수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72F93FA-C101-414D-B882-5887F287D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2781300"/>
            <a:ext cx="914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수령, 검수, 발송 상태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CC8FCD6-B99F-4F71-B98A-D197C1900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000500"/>
            <a:ext cx="12858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7AD0E37-DD54-41F0-978F-24C152DC8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4152900"/>
            <a:ext cx="9429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가격 데이터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E5B6C80-B3FC-43FC-BF4D-0235FAD71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4343400"/>
            <a:ext cx="9429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47A5C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47A5C"/>
                </a:solidFill>
                <a:latin typeface="Malgun Gothic"/>
                <a:ea typeface="Malgun Gothic"/>
                <a:cs typeface="Malgun Gothic"/>
              </a:rPr>
              <a:t>16건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1CEA2E1-3B81-4742-ACA7-1BE836D25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4657725"/>
            <a:ext cx="94297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샘플 DB 기준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CCAB784-085E-4386-84D7-5A0A2949C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4000500"/>
            <a:ext cx="12858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C0BA88A-B701-47E2-B18A-51668CCED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4152900"/>
            <a:ext cx="9429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대표 상품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E9D6A37-97CE-45F4-897E-298068129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4343400"/>
            <a:ext cx="9429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rPr>
              <a:t>2종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AA00CA6-C32D-4C50-B744-306E0F451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4657725"/>
            <a:ext cx="94297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후드티, 생필품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6058FEB-184B-4828-B191-ADF62D7A7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000500"/>
            <a:ext cx="12858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0AE0803-251B-4AFF-BD0C-3AA0493BD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152900"/>
            <a:ext cx="9429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경매 물품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EB1744B-81E5-4325-B5FD-CDB65BFE5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343400"/>
            <a:ext cx="9429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F5F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0F5F48"/>
                </a:solidFill>
                <a:latin typeface="Malgun Gothic"/>
                <a:ea typeface="Malgun Gothic"/>
                <a:cs typeface="Malgun Gothic"/>
              </a:rPr>
              <a:t>3건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EE856E0-CB4A-4BF8-A23B-D7FDD2423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657725"/>
            <a:ext cx="94297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현재 로컬 DB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3F41877-0939-43DE-90D1-1C979AC73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4000500"/>
            <a:ext cx="12858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1AE88A8-C596-4D48-AC5F-9BF8E1BDF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4075" y="4152900"/>
            <a:ext cx="9429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활성 경매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84B22B4-7B8C-42AF-AE99-BCAD0706D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4075" y="4343400"/>
            <a:ext cx="9429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DC2626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DC2626"/>
                </a:solidFill>
                <a:latin typeface="Malgun Gothic"/>
                <a:ea typeface="Malgun Gothic"/>
                <a:cs typeface="Malgun Gothic"/>
              </a:rPr>
              <a:t>2건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2CF4A2E-2168-4400-A1E6-982C66E6A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4075" y="4657725"/>
            <a:ext cx="94297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진행 중 상태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7D43DBF-F560-40CA-BDB3-0496C8B5B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8650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0">
            <a:solidFill>
              <a:srgbClr val="D9DEE7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0EE0438-CAFC-430D-B0C3-2EF565A44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723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context/project-brief.md, app.py, local app.db count query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D707967-D805-40DD-81B8-D485737B6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00800"/>
            <a:ext cx="552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754112431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ackground">
            <a:extLst xmlns:a="http://schemas.openxmlformats.org/drawingml/2006/main">
              <a:ext uri="{FF2B5EF4-FFF2-40B4-BE49-F238E27FC236}">
                <a16:creationId xmlns:a16="http://schemas.microsoft.com/office/drawing/2014/main" id="{1FE22BF1-F567-4E65-B81F-B28884863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0">
            <a:solidFill>
              <a:srgbClr val="F4F6F8"/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7F1E9DBA-DEAB-4F4C-BCD0-8436F1AF0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5775"/>
            <a:ext cx="20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A5C"/>
          </a:solidFill>
          <a:ln xmlns:a="http://schemas.openxmlformats.org/drawingml/2006/main" w="0">
            <a:solidFill>
              <a:srgbClr val="147A5C"/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D70A8A72-9EA6-4B25-8424-E4AC308B2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8150"/>
            <a:ext cx="2667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47A5C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147A5C"/>
                </a:solidFill>
                <a:latin typeface="Malgun Gothic"/>
                <a:ea typeface="Malgun Gothic"/>
                <a:cs typeface="Malgun Gothic"/>
              </a:rPr>
              <a:t>PROBLEM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43E313-5943-479F-852B-C70A30D1A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8667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같은 물품도 가격 차이가 커서 판매자와 구매자가 모두 판단하기 어렵습니다.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99242A-7828-499B-BDC6-EDE69CA7C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7620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가격 비교가 여러 사이트에 흩어져 있고, 상태 차이까지 함께 봐야 합니다.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AE9923-5425-4833-81C5-8995EE3AB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8650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0">
            <a:solidFill>
              <a:srgbClr val="D9DEE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6A0099-421E-43B6-9238-4C59CC5B0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723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context/business-context.md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932413-347C-4785-91EB-C103D02AF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00800"/>
            <a:ext cx="552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8BC94B-6475-4300-8820-254D8A05D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24125"/>
            <a:ext cx="31432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CEC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524714-AC97-43A6-BB0C-181F7880A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43200"/>
            <a:ext cx="114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DC2626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DC2626"/>
                </a:solidFill>
                <a:latin typeface="Malgun Gothic"/>
                <a:ea typeface="Malgun Gothic"/>
                <a:cs typeface="Malgun Gothic"/>
              </a:rPr>
              <a:t>판매자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83F57F-048F-4A9D-B6FA-16D70BF89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181350"/>
            <a:ext cx="2571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너무 비싸게 올리면 입찰이 적고,</a:t>
            </a:r>
          </a:p>
          <a:p xmlns:a="http://schemas.openxmlformats.org/drawingml/2006/main">
            <a:pPr algn="l">
              <a:defRPr sz="1500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너무 싸게 올리면 손해를 볼 수 있습니다.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E865BE-5ABD-4E73-A809-2C0FFFCD5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114800"/>
            <a:ext cx="2686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solidFill>
              <a:srgbClr val="DC262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EED0AF-6077-46E9-B0C4-841D7D2EF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524125"/>
            <a:ext cx="31432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590A99-0ED7-423C-9988-90C6B3051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2743200"/>
            <a:ext cx="114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rPr>
              <a:t>구매자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7C92018-80DC-47AE-909E-5D4D6341F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3181350"/>
            <a:ext cx="2571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현재 입찰가가 시세보다 높은지</a:t>
            </a:r>
          </a:p>
          <a:p xmlns:a="http://schemas.openxmlformats.org/drawingml/2006/main">
            <a:pPr algn="l">
              <a:defRPr sz="1500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직접 판단하기 어렵습니다.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04C395C-2603-46F6-8B7F-A7AB53D84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4114800"/>
            <a:ext cx="2686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C448F86-10AF-4C54-BFD9-2884526FB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524125"/>
            <a:ext cx="31432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4E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ADD9026-39D6-4DD2-9D50-8098611BE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743200"/>
            <a:ext cx="114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47A5C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47A5C"/>
                </a:solidFill>
                <a:latin typeface="Malgun Gothic"/>
                <a:ea typeface="Malgun Gothic"/>
                <a:cs typeface="Malgun Gothic"/>
              </a:rPr>
              <a:t>팀 프로젝트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3BAFDC4-550A-468B-A99E-E51B05763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181350"/>
            <a:ext cx="2571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데이터 수집, 가공, 화면 기능이</a:t>
            </a:r>
          </a:p>
          <a:p xmlns:a="http://schemas.openxmlformats.org/drawingml/2006/main">
            <a:pPr algn="l">
              <a:defRPr sz="1500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한 서비스 흐름으로 보여야 합니다.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4CD87C1-8D9B-4A02-B639-C76BA4349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114800"/>
            <a:ext cx="2686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A5C"/>
          </a:solidFill>
          <a:ln xmlns:a="http://schemas.openxmlformats.org/drawingml/2006/main" w="0">
            <a:solidFill>
              <a:srgbClr val="147A5C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D459B75-D25F-4BC0-871B-D1594DB9F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91100"/>
            <a:ext cx="1428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47A5C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147A5C"/>
                </a:solidFill>
                <a:latin typeface="Malgun Gothic"/>
                <a:ea typeface="Malgun Gothic"/>
                <a:cs typeface="Malgun Gothic"/>
              </a:rPr>
              <a:t>핵심 문제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1BB6D2B-1039-462F-A8D4-3871FA370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953000"/>
            <a:ext cx="8001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가격을 정해야 하는 순간에 믿을 만한 참고 정보가 바로 보이지 않습니다.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8DE9982-9313-4E76-8E06-1341FB8B9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5314950"/>
            <a:ext cx="7524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그래서 이 프로젝트는 가격 데이터를 별도 조회 기능으로 두지 않고 경매 화면 안에 배치합니다.</a:t>
            </a:r>
          </a:p>
        </p:txBody>
      </p:sp>
    </p:spTree>
    <p:extLst>
      <p:ext uri="{BB962C8B-B14F-4D97-AF65-F5344CB8AC3E}">
        <p14:creationId xmlns:p14="http://schemas.microsoft.com/office/powerpoint/2010/main" val="53907110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ackground">
            <a:extLst xmlns:a="http://schemas.openxmlformats.org/drawingml/2006/main">
              <a:ext uri="{FF2B5EF4-FFF2-40B4-BE49-F238E27FC236}">
                <a16:creationId xmlns:a16="http://schemas.microsoft.com/office/drawing/2014/main" id="{4F462AF6-CFF7-4FD9-9123-ADE11F1BF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0">
            <a:solidFill>
              <a:srgbClr val="F4F6F8"/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4F97D9A6-6511-4B48-AD2C-93C6ACEE2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5775"/>
            <a:ext cx="20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A5C"/>
          </a:solidFill>
          <a:ln xmlns:a="http://schemas.openxmlformats.org/drawingml/2006/main" w="0">
            <a:solidFill>
              <a:srgbClr val="147A5C"/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30218F03-1EB6-48F8-89CA-8D4D64511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8150"/>
            <a:ext cx="2667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47A5C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147A5C"/>
                </a:solidFill>
                <a:latin typeface="Malgun Gothic"/>
                <a:ea typeface="Malgun Gothic"/>
                <a:cs typeface="Malgun Gothic"/>
              </a:rPr>
              <a:t>SOLUTION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B10440-1B42-4ABB-BA73-B10FA131A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8667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가격 판단을 거래 화면 안에 넣어 시작가와 입찰가 결정을 돕습니다.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05DF4E-C7AA-42CF-9215-F102213C2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7620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시세 그래프는 서비스의 중심이 아니라 경매 흐름을 돕는 보조 판단 도구입니다.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A53676-30EB-4C67-BB09-B33510634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8650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0">
            <a:solidFill>
              <a:srgbClr val="D9DEE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524CBD-5DEF-4069-8888-9D6775083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723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context/project-brief.md, brand/DESIGN.md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90A607-2936-45F9-B718-6E96A762F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00800"/>
            <a:ext cx="552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AFF82D-CC62-415F-AAE6-4969B9FD4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457450"/>
            <a:ext cx="3333750" cy="1771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2A"/>
          </a:solidFill>
          <a:ln xmlns:a="http://schemas.openxmlformats.org/drawingml/2006/main" w="0">
            <a:solidFill>
              <a:srgbClr val="17202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5FC698-DAB4-4226-BBA2-DEAB37284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895600"/>
            <a:ext cx="27241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경매형 중고거래</a:t>
            </a:r>
          </a:p>
          <a:p xmlns:a="http://schemas.openxmlformats.org/drawingml/2006/main">
            <a:pPr algn="ctr">
              <a:defRPr sz="23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웹사이트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23AC85-C1E5-488C-AEC6-80BDB5120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657600"/>
            <a:ext cx="2438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C8D8D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C8D8D2"/>
                </a:solidFill>
                <a:latin typeface="Malgun Gothic"/>
                <a:ea typeface="Malgun Gothic"/>
                <a:cs typeface="Malgun Gothic"/>
              </a:rPr>
              <a:t>등록 · 입찰 · 낙찰 · 검수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B42649-E9E0-42A5-A55B-9872A2106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76500"/>
            <a:ext cx="2857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E4875D3-4834-4DD8-A8A7-18720CD1B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686050"/>
            <a:ext cx="228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rPr>
              <a:t>저장된 가격 데이터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C6A3B85-3BF2-4D83-9BFA-F1CC32459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009900"/>
            <a:ext cx="238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CSV와 SQLite 기준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FE70471-D61D-43E4-94BA-FC0FC8961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48125"/>
            <a:ext cx="2857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4E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19D649-C4D9-40C7-8840-FBD88D21C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257675"/>
            <a:ext cx="228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47A5C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47A5C"/>
                </a:solidFill>
                <a:latin typeface="Malgun Gothic"/>
                <a:ea typeface="Malgun Gothic"/>
                <a:cs typeface="Malgun Gothic"/>
              </a:rPr>
              <a:t>판매자 판단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C65D803-1E54-428F-B59D-7773C692C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581525"/>
            <a:ext cx="238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시세를 보고 시작가 설정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FC05377-49D4-49E1-A475-B0FE1CBFA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476500"/>
            <a:ext cx="2857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CEC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751A34F-21F9-4C54-9DEA-0D4237EEE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686050"/>
            <a:ext cx="228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DC2626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DC2626"/>
                </a:solidFill>
                <a:latin typeface="Malgun Gothic"/>
                <a:ea typeface="Malgun Gothic"/>
                <a:cs typeface="Malgun Gothic"/>
              </a:rPr>
              <a:t>구매자 판단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1D4920E-2537-4C18-9E61-C0D4A00E5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009900"/>
            <a:ext cx="238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현재 입찰가와 시세 비교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1D22564-2BCF-40A4-B18C-75960C6F6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048125"/>
            <a:ext cx="2857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2EB6280-C05E-493C-BAD5-8F7230BC1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257675"/>
            <a:ext cx="228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B45309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B45309"/>
                </a:solidFill>
                <a:latin typeface="Malgun Gothic"/>
                <a:ea typeface="Malgun Gothic"/>
                <a:cs typeface="Malgun Gothic"/>
              </a:rPr>
              <a:t>관리자 검수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59298B3-AE26-43AF-8A34-6707AA87A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581525"/>
            <a:ext cx="238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낙찰 뒤 상태 확인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61C26B2-4A42-4DCE-BD98-2F1936363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933700"/>
            <a:ext cx="400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7E364CC-0247-4284-891D-54907A7DA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809875"/>
            <a:ext cx="228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rPr>
              <a:t>&gt;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08063A4-AE5D-4047-9410-5257186F5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4524375"/>
            <a:ext cx="400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A5C"/>
          </a:solidFill>
          <a:ln xmlns:a="http://schemas.openxmlformats.org/drawingml/2006/main" w="0">
            <a:solidFill>
              <a:srgbClr val="147A5C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EFFAECE-9584-4DFE-81CA-14B3D16F0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400550"/>
            <a:ext cx="228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47A5C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47A5C"/>
                </a:solidFill>
                <a:latin typeface="Malgun Gothic"/>
                <a:ea typeface="Malgun Gothic"/>
                <a:cs typeface="Malgun Gothic"/>
              </a:rPr>
              <a:t>&gt;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89071DF-E861-4AF4-A0D2-29B8798D8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933700"/>
            <a:ext cx="9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solidFill>
              <a:srgbClr val="DC2626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D1A40CC-BA72-481A-B67F-EB64DE85D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809875"/>
            <a:ext cx="228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DC2626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DC2626"/>
                </a:solidFill>
                <a:latin typeface="Malgun Gothic"/>
                <a:ea typeface="Malgun Gothic"/>
                <a:cs typeface="Malgun Gothic"/>
              </a:rPr>
              <a:t>&gt;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B1B8693-0F7E-48B7-AA33-2831E959B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524375"/>
            <a:ext cx="9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B45309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DA4B3D6-2F48-4814-9ABE-5A7C6F874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400550"/>
            <a:ext cx="228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B45309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B45309"/>
                </a:solidFill>
                <a:latin typeface="Malgun Gothic"/>
                <a:ea typeface="Malgun Gothic"/>
                <a:cs typeface="Malgun Gothic"/>
              </a:rPr>
              <a:t>&gt;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DFEC931-1B9B-4B0D-BE24-92F6527C2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219700"/>
            <a:ext cx="4762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B2BE874-B21A-4D7D-8DEA-EC303AFCB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5267325"/>
            <a:ext cx="457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결과: 가격 결정 흐름이 화면 안에서 끝납니다</a:t>
            </a:r>
          </a:p>
        </p:txBody>
      </p:sp>
    </p:spTree>
    <p:extLst>
      <p:ext uri="{BB962C8B-B14F-4D97-AF65-F5344CB8AC3E}">
        <p14:creationId xmlns:p14="http://schemas.microsoft.com/office/powerpoint/2010/main" val="2016761696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ackground">
            <a:extLst xmlns:a="http://schemas.openxmlformats.org/drawingml/2006/main">
              <a:ext uri="{FF2B5EF4-FFF2-40B4-BE49-F238E27FC236}">
                <a16:creationId xmlns:a16="http://schemas.microsoft.com/office/drawing/2014/main" id="{34FABFDD-F848-4C7E-805A-6051065F3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0">
            <a:solidFill>
              <a:srgbClr val="F4F6F8"/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5930AED5-BE14-4084-A0CB-480132505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5775"/>
            <a:ext cx="20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A5C"/>
          </a:solidFill>
          <a:ln xmlns:a="http://schemas.openxmlformats.org/drawingml/2006/main" w="0">
            <a:solidFill>
              <a:srgbClr val="147A5C"/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BF46011E-10AE-4BFB-8C29-FFECE3958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8150"/>
            <a:ext cx="2667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47A5C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147A5C"/>
                </a:solidFill>
                <a:latin typeface="Malgun Gothic"/>
                <a:ea typeface="Malgun Gothic"/>
                <a:cs typeface="Malgun Gothic"/>
              </a:rPr>
              <a:t>DATA FLOW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518BCC-DCCF-49F5-BF7D-C95810EBE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8667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실시간 수집 대신 저장 데이터를 써서 발표 시연을 안정적으로 만듭니다.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C59B8E-D311-490B-B7E9-5900A41B8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7620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크롤링은 웹 공개 페이지에서 필요한 정보를 자동으로 모으는 작업입니다.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9DE74D-60FB-4E8B-BE71-C3C77D0EF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8650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0">
            <a:solidFill>
              <a:srgbClr val="D9DEE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6CA80D-CE08-472E-B29A-352CEB369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723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context/project-brief.md, scripts, services/db.py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CD28F3-028C-4EC8-B47A-1A3E559E9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00800"/>
            <a:ext cx="552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854709-2C88-42ED-83D9-63B8FBDDF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33650"/>
            <a:ext cx="1666875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7A9812-FC84-4304-BAAD-5E554D9F8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62250"/>
            <a:ext cx="1238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공개 페이지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BEC17F-2E0B-4B16-B847-F9E828DB6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71825"/>
            <a:ext cx="12192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당근마켓</a:t>
            </a:r>
          </a:p>
          <a:p xmlns:a="http://schemas.openxmlformats.org/drawingml/2006/main">
            <a:pPr algn="l">
              <a:defRPr sz="1125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중고나라</a:t>
            </a:r>
          </a:p>
          <a:p xmlns:a="http://schemas.openxmlformats.org/drawingml/2006/main">
            <a:pPr algn="l">
              <a:defRPr sz="1125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번개장터</a:t>
            </a:r>
          </a:p>
          <a:p xmlns:a="http://schemas.openxmlformats.org/drawingml/2006/main">
            <a:pPr algn="l">
              <a:defRPr sz="1125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KREAM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773921-3695-47A0-88AA-C4F69AE4E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276600"/>
            <a:ext cx="209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A5C"/>
          </a:solidFill>
          <a:ln xmlns:a="http://schemas.openxmlformats.org/drawingml/2006/main" w="0">
            <a:solidFill>
              <a:srgbClr val="147A5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9C8CFF-22E6-4F8A-97CA-1E566649B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152775"/>
            <a:ext cx="228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47A5C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47A5C"/>
                </a:solidFill>
                <a:latin typeface="Malgun Gothic"/>
                <a:ea typeface="Malgun Gothic"/>
                <a:cs typeface="Malgun Gothic"/>
              </a:rPr>
              <a:t>&gt;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7B3CB1B-4936-4B70-AF33-1CEA499AA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2533650"/>
            <a:ext cx="1666875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4E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823FCB3-26CD-47D4-939F-5D78893B2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2762250"/>
            <a:ext cx="1238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수집 코드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EDBCC41-EC74-4721-9294-4B6508AEC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3171825"/>
            <a:ext cx="12192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requests</a:t>
            </a:r>
          </a:p>
          <a:p xmlns:a="http://schemas.openxmlformats.org/drawingml/2006/main">
            <a:pPr algn="l">
              <a:defRPr sz="1125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BeautifulSoup</a:t>
            </a:r>
          </a:p>
          <a:p xmlns:a="http://schemas.openxmlformats.org/drawingml/2006/main">
            <a:pPr algn="l">
              <a:defRPr sz="1125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Selenium 보조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E7094C5-70AE-4AFC-836F-E12DDA6E4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276600"/>
            <a:ext cx="209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A5C"/>
          </a:solidFill>
          <a:ln xmlns:a="http://schemas.openxmlformats.org/drawingml/2006/main" w="0">
            <a:solidFill>
              <a:srgbClr val="147A5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A686E2B-67F1-4838-B31E-A7D76A3AA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3152775"/>
            <a:ext cx="228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47A5C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47A5C"/>
                </a:solidFill>
                <a:latin typeface="Malgun Gothic"/>
                <a:ea typeface="Malgun Gothic"/>
                <a:cs typeface="Malgun Gothic"/>
              </a:rPr>
              <a:t>&gt;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17084EE-D481-483C-8F65-165D442A1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533650"/>
            <a:ext cx="1666875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1E72857-0B1B-4EDF-B358-39E5561E9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762250"/>
            <a:ext cx="1238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샘플 저장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D156CA1-27B1-423A-8BF3-5318E7260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171825"/>
            <a:ext cx="12192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CSV</a:t>
            </a:r>
          </a:p>
          <a:p xmlns:a="http://schemas.openxmlformats.org/drawingml/2006/main">
            <a:pPr algn="l">
              <a:defRPr sz="1125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JSON 선택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7155ABA-B5F7-4D61-B48A-CCBDD7582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276600"/>
            <a:ext cx="209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A5C"/>
          </a:solidFill>
          <a:ln xmlns:a="http://schemas.openxmlformats.org/drawingml/2006/main" w="0">
            <a:solidFill>
              <a:srgbClr val="147A5C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8E9FBED-7B0A-40AC-93AD-812669292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152775"/>
            <a:ext cx="228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47A5C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47A5C"/>
                </a:solidFill>
                <a:latin typeface="Malgun Gothic"/>
                <a:ea typeface="Malgun Gothic"/>
                <a:cs typeface="Malgun Gothic"/>
              </a:rPr>
              <a:t>&gt;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3E032BE-9715-4266-AF71-5B4D27A07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533650"/>
            <a:ext cx="1666875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6A45F82-1E9A-40E7-84E4-B9698452B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2762250"/>
            <a:ext cx="1238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rPr>
              <a:t>조회 DB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0386B2C-10B9-4D61-A61A-77CE34D02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3171825"/>
            <a:ext cx="12192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SQLite</a:t>
            </a:r>
          </a:p>
          <a:p xmlns:a="http://schemas.openxmlformats.org/drawingml/2006/main">
            <a:pPr algn="l">
              <a:defRPr sz="1125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저장 데이터 기준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90BF441-DD65-42C2-9C75-8775AA4E8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276600"/>
            <a:ext cx="209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A5C"/>
          </a:solidFill>
          <a:ln xmlns:a="http://schemas.openxmlformats.org/drawingml/2006/main" w="0">
            <a:solidFill>
              <a:srgbClr val="147A5C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08EF916-7284-42B7-984D-F0B65AA5B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3152775"/>
            <a:ext cx="228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47A5C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47A5C"/>
                </a:solidFill>
                <a:latin typeface="Malgun Gothic"/>
                <a:ea typeface="Malgun Gothic"/>
                <a:cs typeface="Malgun Gothic"/>
              </a:rPr>
              <a:t>&gt;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8CD0084-ED61-4D2D-8DA0-C41021C91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533650"/>
            <a:ext cx="1666875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9CB0D91-D08C-4336-8671-FC7742531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762250"/>
            <a:ext cx="1238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웹 화면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95AB8B3-DC31-4D03-AFF6-FDF464CC2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171825"/>
            <a:ext cx="12192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등록 화면</a:t>
            </a:r>
          </a:p>
          <a:p xmlns:a="http://schemas.openxmlformats.org/drawingml/2006/main">
            <a:pPr algn="l">
              <a:defRPr sz="1125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입찰 화면</a:t>
            </a:r>
          </a:p>
          <a:p xmlns:a="http://schemas.openxmlformats.org/drawingml/2006/main">
            <a:pPr algn="l">
              <a:defRPr sz="1125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시세 확인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48D4AE8-E867-4F8B-A21B-A7E735F37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19625"/>
            <a:ext cx="5143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856FA38-3698-4B38-B494-875D4A604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38700"/>
            <a:ext cx="4476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B45309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B45309"/>
                </a:solidFill>
                <a:latin typeface="Malgun Gothic"/>
                <a:ea typeface="Malgun Gothic"/>
                <a:cs typeface="Malgun Gothic"/>
              </a:rPr>
              <a:t>정책 확인은 제출 전 최종 단계에서 다시 확인 필요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5BEBDE4-9C01-4845-A61E-0B57735B3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181600"/>
            <a:ext cx="433387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기술적으로 가능한 수집과 정책상 허용되는 수집은 다를 수 있습니다.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C7837DE-C1D2-46CE-B653-5E6384CBA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619625"/>
            <a:ext cx="4953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40ECCF9-5C89-48B1-B77F-76A6D409D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838700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Open API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420ECFA-DB21-44C3-91F4-B64974A36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4810125"/>
            <a:ext cx="3143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외부 서비스가 정해 둔 방식으로 데이터를 요청하고 받는 기능입니다. 이번 프로젝트에서는 사용하지 않아도 됩니다.</a:t>
            </a:r>
          </a:p>
        </p:txBody>
      </p:sp>
    </p:spTree>
    <p:extLst>
      <p:ext uri="{BB962C8B-B14F-4D97-AF65-F5344CB8AC3E}">
        <p14:creationId xmlns:p14="http://schemas.microsoft.com/office/powerpoint/2010/main" val="17629968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ackground">
            <a:extLst xmlns:a="http://schemas.openxmlformats.org/drawingml/2006/main">
              <a:ext uri="{FF2B5EF4-FFF2-40B4-BE49-F238E27FC236}">
                <a16:creationId xmlns:a16="http://schemas.microsoft.com/office/drawing/2014/main" id="{884B46CC-EDE7-416F-890A-B1F9428B1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0">
            <a:solidFill>
              <a:srgbClr val="F4F6F8"/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6A34EEFC-DD47-41A4-A447-04F6A6C5A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5775"/>
            <a:ext cx="20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A5C"/>
          </a:solidFill>
          <a:ln xmlns:a="http://schemas.openxmlformats.org/drawingml/2006/main" w="0">
            <a:solidFill>
              <a:srgbClr val="147A5C"/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3F3D9295-21B7-47A8-831B-EE5175529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8150"/>
            <a:ext cx="2667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47A5C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147A5C"/>
                </a:solidFill>
                <a:latin typeface="Malgun Gothic"/>
                <a:ea typeface="Malgun Gothic"/>
                <a:cs typeface="Malgun Gothic"/>
              </a:rPr>
              <a:t>DATA PROCESSING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367DE9-9815-44D9-8631-00B1404AB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8667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물품 묶기와 이상치 처리가 그래프 신뢰도를 만듭니다.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54D986-A5C6-41B6-A682-A0968E298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7620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그래프가 가격 결정을 돕기 위해서는 가격 목록보다 정리 기준이 먼저 필요합니다.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D0C107-AEF0-4A02-B6F1-0FE8AF056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8650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0">
            <a:solidFill>
              <a:srgbClr val="D9DEE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E6169E-51FB-4DE3-A612-8DEA48906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723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context/business-context.md, services/price_service.py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F1DE4A-3D82-4202-8CA3-F25688516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00800"/>
            <a:ext cx="552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7B9928-C88B-4D45-AE40-D1A5E833A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43150"/>
            <a:ext cx="2095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2A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0D4B6F-3831-440A-8CDB-A330538C2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38400"/>
            <a:ext cx="18669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처리 단계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369F4B-4612-4FB3-970B-B857659EC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343150"/>
            <a:ext cx="3048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2A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A3233B-BAAC-40C8-A4E9-84DBAF1BB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438400"/>
            <a:ext cx="2819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무엇을 정리하나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220289D-CF39-443B-9793-874C4A587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343150"/>
            <a:ext cx="3048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2A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5E75E1F-F359-4040-82CC-23BB5B012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438400"/>
            <a:ext cx="2819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왜 필요한가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7F69314-C553-4F31-B5B4-99A14E23A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343150"/>
            <a:ext cx="2000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2A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C0EC967-C889-47E6-899D-0C218E96E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438400"/>
            <a:ext cx="17716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화면 사용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DC9B621-CFA3-4347-BDC5-95C14FC8A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00350"/>
            <a:ext cx="2095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B7BBA50-4C46-4234-9C4F-C179469DC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95600"/>
            <a:ext cx="18669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항목 추출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3676335-DC0E-48BE-A038-9818AC1FB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800350"/>
            <a:ext cx="3048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4F35ABB-CAC9-4BD1-8D4B-20E65CCF2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895600"/>
            <a:ext cx="28194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물품명, 가격, 날짜, 상태, 출처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4770119-1521-4F68-AC3E-47C200D79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800350"/>
            <a:ext cx="3048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AD07D0B-6377-4C6D-8750-787DDA9B1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895600"/>
            <a:ext cx="28194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비교할 최소 정보를 맞춥니다.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8EBD8D8-60ED-46AC-B980-BFDDB9463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800350"/>
            <a:ext cx="2000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AD6390B-7E92-4656-8088-D04E7A382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895600"/>
            <a:ext cx="17716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그래프 축과 표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380166F-1075-4EC4-9361-8E6A12917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48050"/>
            <a:ext cx="2095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2429464-780B-4E4C-ABD6-1DA312229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43300"/>
            <a:ext cx="18669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물품 묶기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356CE6B-E96A-4DDC-8FFC-8E65074C7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448050"/>
            <a:ext cx="3048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45B3FD4-C3AC-4D70-BEF3-E19113697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543300"/>
            <a:ext cx="28194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브랜드, 상품명, 카테고리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A0F5E9A-E41B-4286-A100-DAC885847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448050"/>
            <a:ext cx="3048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C117928-0420-48E8-A58F-A7C27D57D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543300"/>
            <a:ext cx="28194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다른 물품이 섞이지 않게 합니다.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838ADD7-36F7-418B-ADDA-351D12344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448050"/>
            <a:ext cx="2000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8FEE917-862E-48D8-B26C-3B2F27EA9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543300"/>
            <a:ext cx="17716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대표 상품 선택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1CA2B50-661E-4779-80E6-B219AD7ED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95750"/>
            <a:ext cx="2095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97AB469-9697-4294-B70B-DDFD25D5B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91000"/>
            <a:ext cx="18669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이상치 처리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FB18096-EF2D-474D-9E0C-65375B18F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095750"/>
            <a:ext cx="3048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C47331D-B16C-411D-84BD-E629A81B4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4191000"/>
            <a:ext cx="28194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잘못 입력된 가격, 부품 판매 글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4E38266-D16C-4AF2-A9DF-9307B0B29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095750"/>
            <a:ext cx="3048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B0C5844-5AF0-485E-A2C2-F8D814FE6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191000"/>
            <a:ext cx="28194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시세 범위가 왜곡되지 않게 합니다.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7876CB4-EE7E-4F31-A024-CA4691219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095750"/>
            <a:ext cx="2000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3C40E95-CEA0-47E0-8D5C-42299D6DA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191000"/>
            <a:ext cx="17716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가격 참고 정보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ECBC6AF-D28A-4DC4-8513-6BE12E5F5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43450"/>
            <a:ext cx="2095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2073419-4489-4B2C-9C71-34733A3CB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38700"/>
            <a:ext cx="18669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부족 데이터 표시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BE58362-DEFF-419A-8C6B-C81701B71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743450"/>
            <a:ext cx="3048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E0879B5-D7C9-426E-881C-21CA97453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4838700"/>
            <a:ext cx="28194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표본이 적은 상품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87D068A-EA95-4220-AF37-7B76B2F17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743450"/>
            <a:ext cx="3048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C828655-D2BF-4098-A8A5-B16E5D964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838700"/>
            <a:ext cx="28194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신뢰도를 과장하지 않습니다.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C58AF77-93A9-435B-AAE5-311FE4186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743450"/>
            <a:ext cx="2000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7283EBD-A202-4472-B054-5EEEBE49C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838700"/>
            <a:ext cx="17716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데이터 부족 안내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086B968-5073-4AB0-8220-39C6C3B16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00700"/>
            <a:ext cx="9810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4E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C1CEFC89-3FB4-4BAC-AB8E-30675D8CC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69595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5F48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0F5F48"/>
                </a:solidFill>
                <a:latin typeface="Malgun Gothic"/>
                <a:ea typeface="Malgun Gothic"/>
                <a:cs typeface="Malgun Gothic"/>
              </a:rPr>
              <a:t>결과: CSV 샘플과 SQLite 컬럼이 맞아야 웹 화면의 계산과 그래프가 어긋나지 않습니다.</a:t>
            </a:r>
          </a:p>
        </p:txBody>
      </p:sp>
    </p:spTree>
    <p:extLst>
      <p:ext uri="{BB962C8B-B14F-4D97-AF65-F5344CB8AC3E}">
        <p14:creationId xmlns:p14="http://schemas.microsoft.com/office/powerpoint/2010/main" val="1496916822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ackground">
            <a:extLst xmlns:a="http://schemas.openxmlformats.org/drawingml/2006/main">
              <a:ext uri="{FF2B5EF4-FFF2-40B4-BE49-F238E27FC236}">
                <a16:creationId xmlns:a16="http://schemas.microsoft.com/office/drawing/2014/main" id="{82704633-8350-4CB7-99A3-49CF0ADE1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0">
            <a:solidFill>
              <a:srgbClr val="F4F6F8"/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50D9CA10-A0A0-44AD-96A1-B40845DBD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5775"/>
            <a:ext cx="20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A5C"/>
          </a:solidFill>
          <a:ln xmlns:a="http://schemas.openxmlformats.org/drawingml/2006/main" w="0">
            <a:solidFill>
              <a:srgbClr val="147A5C"/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34841F9C-1EAE-43FC-AF20-92645C8F9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8150"/>
            <a:ext cx="2667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47A5C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147A5C"/>
                </a:solidFill>
                <a:latin typeface="Malgun Gothic"/>
                <a:ea typeface="Malgun Gothic"/>
                <a:cs typeface="Malgun Gothic"/>
              </a:rPr>
              <a:t>PRICE LOGIC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B67C0F-C652-446E-A5D3-6A6FE1957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8667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중간값과 25~75% 범위가 시작가와 입찰 판단의 기준이 됩니다.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979D5C-B14E-40FC-B946-DCBAF1E6C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7620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아래 차트는 나이키 후드티 예시 데이터입니다. 실제 발표 전 최종 데이터 여부를 표시해야 합니다.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35489D-78C7-4498-9D68-F3BFF4AEC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8650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0">
            <a:solidFill>
              <a:srgbClr val="D9DEE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B0F4FB-AAFB-4A50-84DD-C10FA14BF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723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context/pricing-design.md, services/price_service.py, data/sample/market_items.csv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710081-C78E-4210-915A-15944C9B1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00800"/>
            <a:ext cx="552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06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061295-5673-4457-93BC-2D41DC3D1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00550"/>
            <a:ext cx="723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0">
            <a:solidFill>
              <a:srgbClr val="D9DEE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D80DC5-977F-4DF5-BC44-3C2F1A6F4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352925"/>
            <a:ext cx="952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0">
            <a:solidFill>
              <a:srgbClr val="D9DEE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4F07B0-AAF9-476E-9407-AFCB66B9F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51485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2만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8448AA-47F3-4185-B744-DA7D3CF95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352925"/>
            <a:ext cx="952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0">
            <a:solidFill>
              <a:srgbClr val="D9DEE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1709C4-6D97-4EDC-9213-7716B706B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51485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3만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267D35D-04F4-4AD9-98B6-7580D6F8F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352925"/>
            <a:ext cx="952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0">
            <a:solidFill>
              <a:srgbClr val="D9DEE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25DB08B-B766-4D95-955A-171D6E882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51485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4만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757177-EE89-4932-9735-C3D346AB4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352925"/>
            <a:ext cx="952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0">
            <a:solidFill>
              <a:srgbClr val="D9DEE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D4A4FC7-7939-42B2-9DB0-32FD12FD4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51485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5만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01BCE28-A364-43A3-9C8D-78E7F5026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352925"/>
            <a:ext cx="952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0">
            <a:solidFill>
              <a:srgbClr val="D9DEE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8255F3F-A079-4EBB-B32C-8A35FAE9B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51485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6만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1FD73F6-1588-4231-BD9F-1AC9F09C0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790950"/>
            <a:ext cx="21717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F0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C0ED25F-B264-4712-BDD7-4FCFB764E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562350"/>
            <a:ext cx="2286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5F48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0F5F48"/>
                </a:solidFill>
                <a:latin typeface="Malgun Gothic"/>
                <a:ea typeface="Malgun Gothic"/>
                <a:cs typeface="Malgun Gothic"/>
              </a:rPr>
              <a:t>시세 범위 30,000~42,000원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8A31CA9-E2CF-40D5-AEF5-EB905C2F7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4138" y="4110038"/>
            <a:ext cx="1238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A5C"/>
          </a:solidFill>
          <a:ln xmlns:a="http://schemas.openxmlformats.org/drawingml/2006/main" w="0">
            <a:solidFill>
              <a:srgbClr val="147A5C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E4915A1-D10D-4C14-BC7B-63A4792AB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6088" y="3938588"/>
            <a:ext cx="1238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A5C"/>
          </a:solidFill>
          <a:ln xmlns:a="http://schemas.openxmlformats.org/drawingml/2006/main" w="0">
            <a:solidFill>
              <a:srgbClr val="147A5C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E3B01F4-8925-4D9A-9660-AC0D09981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0963" y="4110038"/>
            <a:ext cx="1238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A5C"/>
          </a:solidFill>
          <a:ln xmlns:a="http://schemas.openxmlformats.org/drawingml/2006/main" w="0">
            <a:solidFill>
              <a:srgbClr val="147A5C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9833F7E-7CC6-471D-8C7F-4FA4E834A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7788" y="3938588"/>
            <a:ext cx="1238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A5C"/>
          </a:solidFill>
          <a:ln xmlns:a="http://schemas.openxmlformats.org/drawingml/2006/main" w="0">
            <a:solidFill>
              <a:srgbClr val="147A5C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70E7E4C-7DAB-46BE-BD22-700B05EAB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7538" y="4110038"/>
            <a:ext cx="1238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solidFill>
              <a:srgbClr val="DC2626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5D72D64-EAAB-49E8-9732-5E529B5AD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3619500"/>
            <a:ext cx="952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2A"/>
          </a:solidFill>
          <a:ln xmlns:a="http://schemas.openxmlformats.org/drawingml/2006/main" w="0">
            <a:solidFill>
              <a:srgbClr val="17202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F87B6CA-5863-49AB-8FFF-25CD15D1C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3067050"/>
            <a:ext cx="914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참고 시세</a:t>
            </a:r>
          </a:p>
          <a:p xmlns:a="http://schemas.openxmlformats.org/drawingml/2006/main">
            <a:pPr algn="ctr">
              <a:defRPr sz="975" b="1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35,000원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1EF5C0D-5120-49FD-948E-3658AFE1D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3619500"/>
            <a:ext cx="952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solidFill>
              <a:srgbClr val="DC2626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E6DCC22-A32D-4BEE-9609-4CC5E4377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4733925"/>
            <a:ext cx="990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DC2626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DC2626"/>
                </a:solidFill>
                <a:latin typeface="Malgun Gothic"/>
                <a:ea typeface="Malgun Gothic"/>
                <a:cs typeface="Malgun Gothic"/>
              </a:rPr>
              <a:t>현재 입찰가</a:t>
            </a:r>
          </a:p>
          <a:p xmlns:a="http://schemas.openxmlformats.org/drawingml/2006/main">
            <a:pPr algn="ctr">
              <a:defRPr sz="975" b="1">
                <a:solidFill>
                  <a:srgbClr val="DC2626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DC2626"/>
                </a:solidFill>
                <a:latin typeface="Malgun Gothic"/>
                <a:ea typeface="Malgun Gothic"/>
                <a:cs typeface="Malgun Gothic"/>
              </a:rPr>
              <a:t>45,000원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39A624E-4A33-4795-B62C-F31CE409C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457450"/>
            <a:ext cx="23812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4E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4BAC536-1E76-497F-9131-A5079A08E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609850"/>
            <a:ext cx="1047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47A5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47A5C"/>
                </a:solidFill>
                <a:latin typeface="Malgun Gothic"/>
                <a:ea typeface="Malgun Gothic"/>
                <a:cs typeface="Malgun Gothic"/>
              </a:rPr>
              <a:t>판매자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BDBDD06-9C11-48FE-BC8B-C916CE066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886075"/>
            <a:ext cx="2000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시세 하단이나 중간값을 보고 시작가를 정합니다.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84A0C1C-F73D-4A9E-B9D5-32D8140A6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524250"/>
            <a:ext cx="23812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993CB84-F0E8-4B9F-87D2-744A163E7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676650"/>
            <a:ext cx="1047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rPr>
              <a:t>구매자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E338387-AC09-4DED-A5AD-B766B9C7A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952875"/>
            <a:ext cx="2000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현재 입찰가가 시세 범위 안인지 확인합니다.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D95F401-3D9C-4D00-9445-4896AE4AC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591050"/>
            <a:ext cx="23812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E109C1C-614C-445D-8D4D-F16985C57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743450"/>
            <a:ext cx="1047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45309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B45309"/>
                </a:solidFill>
                <a:latin typeface="Malgun Gothic"/>
                <a:ea typeface="Malgun Gothic"/>
                <a:cs typeface="Malgun Gothic"/>
              </a:rPr>
              <a:t>확인 필요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C1DC7A5-05BC-41C4-8C1E-D57B409C2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5019675"/>
            <a:ext cx="2000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입찰 단위, 마감 시간, 자동 연장 규칙은 선택해야 합니다.</a:t>
            </a:r>
          </a:p>
        </p:txBody>
      </p:sp>
    </p:spTree>
    <p:extLst>
      <p:ext uri="{BB962C8B-B14F-4D97-AF65-F5344CB8AC3E}">
        <p14:creationId xmlns:p14="http://schemas.microsoft.com/office/powerpoint/2010/main" val="159341237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ackground">
            <a:extLst xmlns:a="http://schemas.openxmlformats.org/drawingml/2006/main">
              <a:ext uri="{FF2B5EF4-FFF2-40B4-BE49-F238E27FC236}">
                <a16:creationId xmlns:a16="http://schemas.microsoft.com/office/drawing/2014/main" id="{7B773160-4474-42C1-94FC-4C1C282BD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0">
            <a:solidFill>
              <a:srgbClr val="F4F6F8"/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4C5E23D4-BD46-4E7B-9FFB-BAF542F62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5775"/>
            <a:ext cx="20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A5C"/>
          </a:solidFill>
          <a:ln xmlns:a="http://schemas.openxmlformats.org/drawingml/2006/main" w="0">
            <a:solidFill>
              <a:srgbClr val="147A5C"/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46896436-9289-4847-89CF-234CDF791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8150"/>
            <a:ext cx="2667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47A5C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147A5C"/>
                </a:solidFill>
                <a:latin typeface="Malgun Gothic"/>
                <a:ea typeface="Malgun Gothic"/>
                <a:cs typeface="Malgun Gothic"/>
              </a:rPr>
              <a:t>AUCTION FLOW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C8A831-CEA3-4BC4-8445-4757F0B9D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8667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등록, 입찰, 마감, 검수는 하나의 거래 흐름으로 이어집니다.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BEB15B-9A73-461A-9004-646A73A81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7620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회원가입, 실제 결제, 배송사 연동은 과제 범위에서 제외합니다.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4B1EAC-1E6C-4BDB-9346-38C008C12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8650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0">
            <a:solidFill>
              <a:srgbClr val="D9DEE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AFE47C-0724-46BB-9D37-F49B09162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723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context/project-brief.md, app.py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55A66A-E821-451D-B338-8E9D87977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00800"/>
            <a:ext cx="552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07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9BC081-66CE-4A24-BE55-6133442C1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62200"/>
            <a:ext cx="10287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4E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C56CCF-F268-43BD-AFFC-C3E398C3E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28900"/>
            <a:ext cx="838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판매자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23C4F6-08B7-40D1-B930-2B79AB91C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48050"/>
            <a:ext cx="10287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C27E95-0EBE-4B8B-AE10-11F7DF30D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714750"/>
            <a:ext cx="838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구매자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1744F1-76E8-45CE-A6EB-4ED75B9CB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33900"/>
            <a:ext cx="10287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9385EEA-4635-46FB-9392-2D7D5DB8E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800600"/>
            <a:ext cx="838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관리자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3DFE98D-B96C-48D9-A9EE-E17FB338B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514600"/>
            <a:ext cx="15716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F9531E9-72D6-4C3F-9080-5761E9EEE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600325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47A5C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47A5C"/>
                </a:solidFill>
                <a:latin typeface="Malgun Gothic"/>
                <a:ea typeface="Malgun Gothic"/>
                <a:cs typeface="Malgun Gothic"/>
              </a:rPr>
              <a:t>물품 등록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DA07732-99C4-4B12-BFE4-77CBA5C34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800350"/>
            <a:ext cx="12954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시세 보고 시작가 설정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8F582B8-F4FE-4929-839B-714D8836B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752725"/>
            <a:ext cx="457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A5C"/>
          </a:solidFill>
          <a:ln xmlns:a="http://schemas.openxmlformats.org/drawingml/2006/main" w="0">
            <a:solidFill>
              <a:srgbClr val="147A5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4D367E6-3715-4AAF-8635-80D771042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628900"/>
            <a:ext cx="228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47A5C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47A5C"/>
                </a:solidFill>
                <a:latin typeface="Malgun Gothic"/>
                <a:ea typeface="Malgun Gothic"/>
                <a:cs typeface="Malgun Gothic"/>
              </a:rPr>
              <a:t>&gt;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95F893E-DD2D-41CE-B3FC-0EDF8F8DF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600450"/>
            <a:ext cx="15716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195301D-9CCF-4A84-9393-242C4FF3F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686175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rPr>
              <a:t>입찰 참여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DA69C98-FFD5-4204-B372-7D13ED30A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886200"/>
            <a:ext cx="12954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현재가와 시세 비교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089D24A-B4F3-465A-A146-366AAE951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838575"/>
            <a:ext cx="457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A5C"/>
          </a:solidFill>
          <a:ln xmlns:a="http://schemas.openxmlformats.org/drawingml/2006/main" w="0">
            <a:solidFill>
              <a:srgbClr val="147A5C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567B0C6-6FC1-4F33-8FCA-7C083984D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714750"/>
            <a:ext cx="228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47A5C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47A5C"/>
                </a:solidFill>
                <a:latin typeface="Malgun Gothic"/>
                <a:ea typeface="Malgun Gothic"/>
                <a:cs typeface="Malgun Gothic"/>
              </a:rPr>
              <a:t>&gt;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1027D80-CE4F-43D6-AD52-4FB13BC4E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600450"/>
            <a:ext cx="15716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36644B5-6A02-4071-8A3E-FDE41D037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686175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C262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DC2626"/>
                </a:solidFill>
                <a:latin typeface="Malgun Gothic"/>
                <a:ea typeface="Malgun Gothic"/>
                <a:cs typeface="Malgun Gothic"/>
              </a:rPr>
              <a:t>낙찰 확인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C253ABA-D92B-41B6-9BB7-44A5EC8EE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886200"/>
            <a:ext cx="12954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마감 후 최고가 확인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0785B56-E5F5-4397-ABD8-616D12599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838575"/>
            <a:ext cx="457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A5C"/>
          </a:solidFill>
          <a:ln xmlns:a="http://schemas.openxmlformats.org/drawingml/2006/main" w="0">
            <a:solidFill>
              <a:srgbClr val="147A5C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EC4A612-B161-441D-8CA8-328A5F5B4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714750"/>
            <a:ext cx="228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47A5C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47A5C"/>
                </a:solidFill>
                <a:latin typeface="Malgun Gothic"/>
                <a:ea typeface="Malgun Gothic"/>
                <a:cs typeface="Malgun Gothic"/>
              </a:rPr>
              <a:t>&gt;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D986F8A-0D30-4204-BC15-B386668C8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686300"/>
            <a:ext cx="15716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77DFF6C-1A6D-4B3D-BC18-63D263790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772025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45309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B45309"/>
                </a:solidFill>
                <a:latin typeface="Malgun Gothic"/>
                <a:ea typeface="Malgun Gothic"/>
                <a:cs typeface="Malgun Gothic"/>
              </a:rPr>
              <a:t>검수 상태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3E40920-9995-49DF-95BB-24050687C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972050"/>
            <a:ext cx="12954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수령, 검수, 발송 표시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5CA4AB2-68FB-46E5-84EB-8D216412C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619750"/>
            <a:ext cx="8667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거래의 중심은 경매입니다. 시세 그래프는 등록과 입찰 판단을 돕는 위치에 붙습니다.</a:t>
            </a:r>
          </a:p>
        </p:txBody>
      </p:sp>
    </p:spTree>
    <p:extLst>
      <p:ext uri="{BB962C8B-B14F-4D97-AF65-F5344CB8AC3E}">
        <p14:creationId xmlns:p14="http://schemas.microsoft.com/office/powerpoint/2010/main" val="1170061099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ackground">
            <a:extLst xmlns:a="http://schemas.openxmlformats.org/drawingml/2006/main">
              <a:ext uri="{FF2B5EF4-FFF2-40B4-BE49-F238E27FC236}">
                <a16:creationId xmlns:a16="http://schemas.microsoft.com/office/drawing/2014/main" id="{F9C0E40B-9FA6-4B45-ABDD-55B862A70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0">
            <a:solidFill>
              <a:srgbClr val="F4F6F8"/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A6CFEB37-0490-433A-95A6-6B90A9518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5775"/>
            <a:ext cx="20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A5C"/>
          </a:solidFill>
          <a:ln xmlns:a="http://schemas.openxmlformats.org/drawingml/2006/main" w="0">
            <a:solidFill>
              <a:srgbClr val="147A5C"/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327C1A59-C2F8-4BF6-BB30-EAE1C778F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8150"/>
            <a:ext cx="2667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47A5C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147A5C"/>
                </a:solidFill>
                <a:latin typeface="Malgun Gothic"/>
                <a:ea typeface="Malgun Gothic"/>
                <a:cs typeface="Malgun Gothic"/>
              </a:rPr>
              <a:t>SELLER SCREEN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E741C8-2638-41C8-AB7C-174C7AC1D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8667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판매자는 등록 화면에서 시세를 보고 시작가를 정합니다.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B91FBD-A97D-4CC9-AE39-62528CA47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7620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판매 등록 화면은 입력 폼과 시세 판단 정보를 같은 화면에 둡니다.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66B40A-AF5D-4997-8E1B-83485307E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8650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0">
            <a:solidFill>
              <a:srgbClr val="D9DEE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1B2B87-EAB0-41EB-AF3D-D1482AEC9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723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templates/auctions/form.html route, context/project-brief.md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275B1D-098A-4AC6-8F69-ED0F94DA1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00800"/>
            <a:ext cx="552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08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84C4F5-1969-4FB0-A2BE-E2F72ED5A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90750"/>
            <a:ext cx="685800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3FE573-7549-4073-9181-4A7A64F3F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90750"/>
            <a:ext cx="6858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2A"/>
          </a:solidFill>
          <a:ln xmlns:a="http://schemas.openxmlformats.org/drawingml/2006/main" w="0">
            <a:solidFill>
              <a:srgbClr val="17202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B25F83-8787-4795-A7E7-2B10FF69B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05050"/>
            <a:ext cx="6515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판매 등록 화면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353ACC-C0B7-4EA5-8FDA-119AFE009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236220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D25FDD-3557-49AD-B6AE-DCAC382D0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236220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5AF391F-65E5-4F56-8708-04D3296F7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236220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5029E50-639C-43D0-8D78-24E0AE34B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857500"/>
            <a:ext cx="27146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AFB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0504C57-4A9A-4949-811D-748775142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971800"/>
            <a:ext cx="76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물품명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06CD4E6-5574-4C78-A1A4-518459E51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162300"/>
            <a:ext cx="1714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나이키 후드티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E6147F8-AF46-4FA0-BB67-7B41D94ED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524250"/>
            <a:ext cx="27146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AFB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1B4A7AE-7D18-42A4-B238-308472229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638550"/>
            <a:ext cx="76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시작가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6C93B12-E9BB-43FD-AB2E-0B7B27EA8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829050"/>
            <a:ext cx="114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47A5C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47A5C"/>
                </a:solidFill>
                <a:latin typeface="Malgun Gothic"/>
                <a:ea typeface="Malgun Gothic"/>
                <a:cs typeface="Malgun Gothic"/>
              </a:rPr>
              <a:t>30,000원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36FB6DC-9318-402F-A88F-EB6CB1997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191000"/>
            <a:ext cx="27146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AFB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DA42C86-D899-44D7-9028-8FC7F530E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305300"/>
            <a:ext cx="1047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마감 시간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F0638B6-5946-4FF8-852B-226739E65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495800"/>
            <a:ext cx="114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4530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B45309"/>
                </a:solidFill>
                <a:latin typeface="Malgun Gothic"/>
                <a:ea typeface="Malgun Gothic"/>
                <a:cs typeface="Malgun Gothic"/>
              </a:rPr>
              <a:t>확인 필요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76F9EB7-C487-4F5F-90DD-1C6DCE44B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933950"/>
            <a:ext cx="1428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A5C"/>
          </a:solidFill>
          <a:ln xmlns:a="http://schemas.openxmlformats.org/drawingml/2006/main" w="0">
            <a:solidFill>
              <a:srgbClr val="147A5C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834E5B2-709A-4A7D-AE48-DC189CBC6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048250"/>
            <a:ext cx="742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등록하기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E77089B-C5B9-4F40-8DA7-F4B36F35F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857500"/>
            <a:ext cx="29527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35B9381-0091-40AE-8F87-1B5D36DF5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067050"/>
            <a:ext cx="114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시세 그래프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1E4B3F5-2ED9-4731-A30F-949CC6A94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952875"/>
            <a:ext cx="361950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A5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51D28A3-EED9-491C-BF66-0341282C3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914775"/>
            <a:ext cx="36195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A5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BE84541-FABF-4D53-9F6B-163677770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829050"/>
            <a:ext cx="3619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A5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4AFECA8-9CC8-482A-8607-269943E98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705225"/>
            <a:ext cx="361950" cy="752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A5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813F300-35A0-4E21-8722-8C6D2B589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524250"/>
            <a:ext cx="3619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A88ADFC-1549-4B4E-B472-26137ADCF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591050"/>
            <a:ext cx="2190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예시 데이터 · 저장된 SQLite 기준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E851C23-F9EF-4D4B-8826-19C4B4096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524125"/>
            <a:ext cx="2857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4E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F26F219-BB49-457D-898A-5449595E1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781300"/>
            <a:ext cx="2190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F5F48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0F5F48"/>
                </a:solidFill>
                <a:latin typeface="Malgun Gothic"/>
                <a:ea typeface="Malgun Gothic"/>
                <a:cs typeface="Malgun Gothic"/>
              </a:rPr>
              <a:t>판매자에게 보이는 결과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CEB2242-15EB-49B1-9222-DE9FB0C89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143250"/>
            <a:ext cx="22383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시작가를 혼자 정하지 않고,</a:t>
            </a:r>
          </a:p>
          <a:p xmlns:a="http://schemas.openxmlformats.org/drawingml/2006/main">
            <a:pPr algn="l">
              <a:defRPr sz="1125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저장된 가격 범위를 참고합니다.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1BADB42-60A9-4D78-B701-BA37D8B1C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019550"/>
            <a:ext cx="28575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81FE9F7-826E-4F1A-A1E3-572CF2584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267200"/>
            <a:ext cx="171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화면 배치 기준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2CBE897-792D-42F5-BBD6-CBF842DC6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600575"/>
            <a:ext cx="2095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핵심 행동은 등록입니다.</a:t>
            </a:r>
          </a:p>
          <a:p xmlns:a="http://schemas.openxmlformats.org/drawingml/2006/main">
            <a:pPr algn="l">
              <a:defRPr sz="1050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그래프는 등록 판단 옆에 둡니다.</a:t>
            </a:r>
          </a:p>
        </p:txBody>
      </p:sp>
    </p:spTree>
    <p:extLst>
      <p:ext uri="{BB962C8B-B14F-4D97-AF65-F5344CB8AC3E}">
        <p14:creationId xmlns:p14="http://schemas.microsoft.com/office/powerpoint/2010/main" val="902475505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ackground">
            <a:extLst xmlns:a="http://schemas.openxmlformats.org/drawingml/2006/main">
              <a:ext uri="{FF2B5EF4-FFF2-40B4-BE49-F238E27FC236}">
                <a16:creationId xmlns:a16="http://schemas.microsoft.com/office/drawing/2014/main" id="{7C10992D-1C8B-4EA1-8D23-C2F537891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0">
            <a:solidFill>
              <a:srgbClr val="F4F6F8"/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1CB633EE-1ACD-41AE-B42F-9A743FE59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5775"/>
            <a:ext cx="20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A5C"/>
          </a:solidFill>
          <a:ln xmlns:a="http://schemas.openxmlformats.org/drawingml/2006/main" w="0">
            <a:solidFill>
              <a:srgbClr val="147A5C"/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65FE786E-69F5-4C59-A095-A73EEE19E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8150"/>
            <a:ext cx="2667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47A5C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147A5C"/>
                </a:solidFill>
                <a:latin typeface="Malgun Gothic"/>
                <a:ea typeface="Malgun Gothic"/>
                <a:cs typeface="Malgun Gothic"/>
              </a:rPr>
              <a:t>BUYER SCREEN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E5EB6B-DF89-4750-9CAF-C9CFA0DF4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8667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구매자는 현재 입찰가와 시세 범위를 비교해 입찰 여부를 판단합니다.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FC93B4-961B-4043-B2D1-F78FDA2AE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7620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입찰 버튼 옆에 가격 참고 정보가 있어야 흐름이 끊기지 않습니다.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11868E-064F-4DD1-87ED-32B772241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8650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0">
            <a:solidFill>
              <a:srgbClr val="D9DEE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A5DB14-36C4-4AB8-B26F-D2B43D7E6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723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templates/auctions/detail.html, services/price_service.py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AC9D7C-6396-4BBF-908A-18A00E279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00800"/>
            <a:ext cx="552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09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C9A93C-CC97-4D06-AF7C-EAC9B03F5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14550"/>
            <a:ext cx="7334250" cy="3676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A2F397-2C05-4256-B63D-F5562133E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14550"/>
            <a:ext cx="7334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2A"/>
          </a:solidFill>
          <a:ln xmlns:a="http://schemas.openxmlformats.org/drawingml/2006/main" w="0">
            <a:solidFill>
              <a:srgbClr val="17202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E5455C-C6E4-48BB-992F-C7841B71A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228850"/>
            <a:ext cx="6991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경매 상세 화면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84E989-9277-4F65-9F7D-5CA6E7E4F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228600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64545D3-D829-4D4B-8AF4-30B9B135F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1425" y="228600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E0D9CC-5C22-4F86-9092-4D95A89BB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228600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3C5444B-FA3C-4EEC-8070-47AFB150E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81300"/>
            <a:ext cx="23812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AFB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006D0F4-A789-429A-960E-94A375B0E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562350"/>
            <a:ext cx="161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상품 이미지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BEE4B97-35CA-46A0-9653-30DBE54D7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819400"/>
            <a:ext cx="3905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BE0DE27-81D2-481C-A738-730383FAE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971800"/>
            <a:ext cx="2381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나이키 후드티 · 진행중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540B33D-5BC5-433E-9884-988DF8DF3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190875"/>
            <a:ext cx="1905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C2626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DC2626"/>
                </a:solidFill>
                <a:latin typeface="Malgun Gothic"/>
                <a:ea typeface="Malgun Gothic"/>
                <a:cs typeface="Malgun Gothic"/>
              </a:rPr>
              <a:t>현재 입찰가 45,000원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2C00BF3-62BD-469A-B3BD-87AF6CCFA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571875"/>
            <a:ext cx="39052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07FEC37-ADCC-45B6-B9EC-80EEA313D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73380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시세 그래프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0EDAFFF-C693-4CB4-9A1F-769013F15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4276725"/>
            <a:ext cx="400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5CE8EDF-98C1-4382-B126-E506E6072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257675"/>
            <a:ext cx="400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C342262-0235-4E8D-AF22-1BA65872A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219575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9B4E741-D39E-4CDC-9A94-597C2A280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162425"/>
            <a:ext cx="4000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A75D366-5A75-4123-8778-AF6A52BB9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076700"/>
            <a:ext cx="4000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83D19DC-0DBB-4608-91FA-A2376E12A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000500"/>
            <a:ext cx="8191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CEC"/>
          </a:solidFill>
          <a:ln xmlns:a="http://schemas.openxmlformats.org/drawingml/2006/main" w="9525">
            <a:solidFill>
              <a:srgbClr val="DC2626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453B2DC-722A-4506-8F40-1A1A4AAAA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114800"/>
            <a:ext cx="5524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DC2626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DC2626"/>
                </a:solidFill>
                <a:latin typeface="Malgun Gothic"/>
                <a:ea typeface="Malgun Gothic"/>
                <a:cs typeface="Malgun Gothic"/>
              </a:rPr>
              <a:t>높은 편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F9CC7E8-210E-4258-AA6B-F3E64E180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895850"/>
            <a:ext cx="1714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AFB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7B34BEE-AE2B-4204-8D8B-D404471CE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5019675"/>
            <a:ext cx="114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입찰가 입력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4D402C7-4D1E-4597-980A-E0E020D19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4895850"/>
            <a:ext cx="1047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A5C"/>
          </a:solidFill>
          <a:ln xmlns:a="http://schemas.openxmlformats.org/drawingml/2006/main" w="0">
            <a:solidFill>
              <a:srgbClr val="147A5C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8933A6C-99B1-4A2B-B5E7-4185893AB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5019675"/>
            <a:ext cx="381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입찰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C3B078B-0317-470F-A1AD-B6B4C1067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495550"/>
            <a:ext cx="25717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CEC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EC28C70-301E-45F8-9CE0-EDE8A828E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724150"/>
            <a:ext cx="1428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DC2626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DC2626"/>
                </a:solidFill>
                <a:latin typeface="Malgun Gothic"/>
                <a:ea typeface="Malgun Gothic"/>
                <a:cs typeface="Malgun Gothic"/>
              </a:rPr>
              <a:t>구매자 판단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3ADB9EC-F177-4FCC-9994-DC6FEF1EC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067050"/>
            <a:ext cx="2000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현재 입찰가가 시세 범위보다 높은지 바로 봅니다.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22CFE37-6E21-433F-8E23-890013676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733800"/>
            <a:ext cx="25717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2AB75E4-995D-49A1-94C5-0D8EE5B28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981450"/>
            <a:ext cx="114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입찰 규칙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4B3DF25-0BA3-44AB-A431-8F62AB7D5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324350"/>
            <a:ext cx="20478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입찰 단위와 자동 연장 여부는</a:t>
            </a:r>
          </a:p>
          <a:p xmlns:a="http://schemas.openxmlformats.org/drawingml/2006/main">
            <a:pPr algn="l">
              <a:defRPr sz="1050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확인 필요로 남겨 둡니다.</a:t>
            </a:r>
          </a:p>
        </p:txBody>
      </p:sp>
    </p:spTree>
    <p:extLst>
      <p:ext uri="{BB962C8B-B14F-4D97-AF65-F5344CB8AC3E}">
        <p14:creationId xmlns:p14="http://schemas.microsoft.com/office/powerpoint/2010/main" val="1917258755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ackground">
            <a:extLst xmlns:a="http://schemas.openxmlformats.org/drawingml/2006/main">
              <a:ext uri="{FF2B5EF4-FFF2-40B4-BE49-F238E27FC236}">
                <a16:creationId xmlns:a16="http://schemas.microsoft.com/office/drawing/2014/main" id="{A87F2230-1636-4703-B3AF-FD6816E9B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0">
            <a:solidFill>
              <a:srgbClr val="F4F6F8"/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6E6BCCB8-5B6F-410B-A2A5-D37F42814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5775"/>
            <a:ext cx="20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A5C"/>
          </a:solidFill>
          <a:ln xmlns:a="http://schemas.openxmlformats.org/drawingml/2006/main" w="0">
            <a:solidFill>
              <a:srgbClr val="147A5C"/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F2AAE9E3-9485-4648-84F8-3E7A28737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8150"/>
            <a:ext cx="2667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47A5C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147A5C"/>
                </a:solidFill>
                <a:latin typeface="Malgun Gothic"/>
                <a:ea typeface="Malgun Gothic"/>
                <a:cs typeface="Malgun Gothic"/>
              </a:rPr>
              <a:t>INSPECTION FLOW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05E699-BCE2-450C-B8C7-AE3136F07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8667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낙찰 뒤 거래는 관리자 검수 중개 상태로 표현합니다.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15F1EB-5DE0-4B2D-821D-568521728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7620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실제 결제와 배송사 연동은 제외하고, 발표에서는 상태 흐름으로 설명합니다.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D6B8E8-186D-441A-825B-AD485D6B5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8650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0">
            <a:solidFill>
              <a:srgbClr val="D9DEE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1887AA-EE4E-4E95-8E52-8051CE1FC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723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context/project-brief.md, app.py admin_inspections route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F80F35-6FDF-4D87-8C58-5D85A73F3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00800"/>
            <a:ext cx="552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10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D290B6-E9C0-4E12-B90A-433E12C1E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43150"/>
            <a:ext cx="61912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2DB9C4-6737-4A2F-B8A9-6E0AAC44D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28900"/>
            <a:ext cx="2286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관리자 검수 화면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3CB7C1-78A4-4812-A746-E24055FFE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2420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2A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2EF73D-A438-4237-B42C-2DEF1DBFD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219450"/>
            <a:ext cx="1962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낙찰 물품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750E58-5E9C-4BF4-9951-371851FB4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124200"/>
            <a:ext cx="1143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2A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6F4FB71-F127-4630-BCC3-DECFC1D7A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219450"/>
            <a:ext cx="914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수령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8592F7D-80D2-4A9D-8258-8BA189398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124200"/>
            <a:ext cx="1143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2A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520FCCC-10E4-416F-84F2-82EBF0E44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219450"/>
            <a:ext cx="914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검수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D4A4632-086C-46B7-A91D-823C2CECE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3124200"/>
            <a:ext cx="1143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2A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FB7BAD4-2874-4D95-B548-70D88CD8C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219450"/>
            <a:ext cx="914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발송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4AA5047-6662-4F2C-BC7F-45CE74127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524250"/>
            <a:ext cx="2190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EE7FF1B-D4F8-43BC-9503-8FAF82830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619500"/>
            <a:ext cx="19621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나이키 후드티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7EC9C63-6EE7-44B6-8ABE-8D2E84ACF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524250"/>
            <a:ext cx="1143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D64D5E6-B7AD-4CDE-A7BF-16781EBE5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619500"/>
            <a:ext cx="9144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수령 대기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C96E7E3-70C3-4CE3-9280-8A06D1244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524250"/>
            <a:ext cx="1143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D972C41-9FF5-4B29-BFB3-D9A115437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619500"/>
            <a:ext cx="9144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확인 전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CCEB10F-D0E6-48F0-B66D-D97C86859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3524250"/>
            <a:ext cx="1143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E4D6ABA-2E27-41C9-A4FE-5A085770C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619500"/>
            <a:ext cx="9144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대기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707299E-D70B-464A-857F-76E43C197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057650"/>
            <a:ext cx="2190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578EBEE-3A77-455F-A2D8-2D99E89CA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152900"/>
            <a:ext cx="19621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생활용품 세트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EA6A3AD-196B-482F-9B34-8C9A868C3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4057650"/>
            <a:ext cx="1143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173158C-ABDC-465B-B691-F1904177B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152900"/>
            <a:ext cx="9144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수령 완료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431D7CA-9B02-4F5E-8744-2A4CC5ADC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057650"/>
            <a:ext cx="1143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0C3F14C-DB7E-4E04-994B-A66098400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152900"/>
            <a:ext cx="9144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검수 중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E08FEDA-41FA-4C54-A826-FA1584DA0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4057650"/>
            <a:ext cx="1143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D0B8687-A5C9-40D1-8BB5-CF062218E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4152900"/>
            <a:ext cx="9144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대기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F8163B0-8D56-4E38-9D02-1313EE685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591050"/>
            <a:ext cx="2190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E68E462-37F5-463C-9177-7BDF3F195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686300"/>
            <a:ext cx="19621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이어폰 케이스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5843D7B-CBD6-4EDF-9E4F-5BEE423C7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4591050"/>
            <a:ext cx="1143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DF2D162-A3C8-421E-8A9D-1605EF98F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686300"/>
            <a:ext cx="9144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수령 완료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4292C7A-9BF0-4446-BB3D-09F2848E4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591050"/>
            <a:ext cx="1143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6560B19-0804-4CB7-9E5F-BAEE7B3F3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686300"/>
            <a:ext cx="9144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검수 완료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0286ED9-5E8F-46BC-8E24-CFBBAA1EE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4591050"/>
            <a:ext cx="1143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893BC40-650B-44E7-A25B-9ACD752A5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4686300"/>
            <a:ext cx="9144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발송 준비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7E00671-2BBE-400E-B9EA-648CD26F5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552700"/>
            <a:ext cx="314325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E5D5E29-F501-4343-B0BA-260CA22DA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857500"/>
            <a:ext cx="161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B45309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B45309"/>
                </a:solidFill>
                <a:latin typeface="Malgun Gothic"/>
                <a:ea typeface="Malgun Gothic"/>
                <a:cs typeface="Malgun Gothic"/>
              </a:rPr>
              <a:t>왜 필요한가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87D52B9-FCBC-4757-884F-8EC1AE19E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2956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B45309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FCD8399-BB95-450A-BEF7-F287308AC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23850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판매자와 구매자 사이에 검수 상태가 생깁니다.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71B0C4B-1DF4-42D1-A788-C41B0C114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8481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B45309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029144F-4D7F-441D-8885-A83E0AAF9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79095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배송사 연동 없이도 과제 범위 안에서 거래 후 흐름을 설명할 수 있습니다.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30B92C2-D71C-4C68-9B5C-CCB4CCAC9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4005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B45309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A99EEAA-54C9-4D7A-A820-DDE23B7FD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34340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관리자가 수령, 검수, 발송 상태를 바꿉니다.</a:t>
            </a:r>
          </a:p>
        </p:txBody>
      </p:sp>
    </p:spTree>
    <p:extLst>
      <p:ext uri="{BB962C8B-B14F-4D97-AF65-F5344CB8AC3E}">
        <p14:creationId xmlns:p14="http://schemas.microsoft.com/office/powerpoint/2010/main" val="1852040018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ackground">
            <a:extLst xmlns:a="http://schemas.openxmlformats.org/drawingml/2006/main">
              <a:ext uri="{FF2B5EF4-FFF2-40B4-BE49-F238E27FC236}">
                <a16:creationId xmlns:a16="http://schemas.microsoft.com/office/drawing/2014/main" id="{7AD446A3-E8B8-4A58-929F-9943D1D45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0">
            <a:solidFill>
              <a:srgbClr val="F4F6F8"/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E5117D53-7E3D-4F15-9E7E-B5F76748C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5775"/>
            <a:ext cx="20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A5C"/>
          </a:solidFill>
          <a:ln xmlns:a="http://schemas.openxmlformats.org/drawingml/2006/main" w="0">
            <a:solidFill>
              <a:srgbClr val="147A5C"/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2A6521AD-1D6B-4D04-983A-0C662A8B4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8150"/>
            <a:ext cx="2667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47A5C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147A5C"/>
                </a:solidFill>
                <a:latin typeface="Malgun Gothic"/>
                <a:ea typeface="Malgun Gothic"/>
                <a:cs typeface="Malgun Gothic"/>
              </a:rPr>
              <a:t>IMPLEMENTATION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C7730C-9749-4866-B65C-0CD5F2008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8667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Flask, SQLite, Chart.js가 수집 데이터와 화면 기능을 연결합니다.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5BF617-AFB9-472D-9BE3-17B4E2364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7620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구현 설명은 기술 목록보다 데이터가 화면까지 가는 연결을 보여주는 방식으로 구성합니다.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7A65B3-2A40-4870-B642-AB7994D1F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8650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0">
            <a:solidFill>
              <a:srgbClr val="D9DEE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92224F-187C-43C4-81BD-AF489E629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723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app.py, services, templates, static/js/market_chart.js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B967CF-8FEB-4345-A01A-DCE214074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00800"/>
            <a:ext cx="552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11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2B4415-9237-4E32-8404-94DDE97CD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76500"/>
            <a:ext cx="200025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87E393-EB6C-4906-A173-7668B0165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724150"/>
            <a:ext cx="1524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rPr>
              <a:t>수집/적재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333932-907C-4F02-955F-4643B53DE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162300"/>
            <a:ext cx="14859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scripts · crawlers</a:t>
            </a:r>
          </a:p>
          <a:p xmlns:a="http://schemas.openxmlformats.org/drawingml/2006/main">
            <a:pPr algn="l">
              <a:defRPr sz="1200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requests, BeautifulSoup, Selenium 보조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51E5A4-41BB-465D-AE59-859FA5809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371850"/>
            <a:ext cx="9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A5C"/>
          </a:solidFill>
          <a:ln xmlns:a="http://schemas.openxmlformats.org/drawingml/2006/main" w="0">
            <a:solidFill>
              <a:srgbClr val="147A5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4A25E8-5E31-4154-904A-FC4549332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248025"/>
            <a:ext cx="228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47A5C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47A5C"/>
                </a:solidFill>
                <a:latin typeface="Malgun Gothic"/>
                <a:ea typeface="Malgun Gothic"/>
                <a:cs typeface="Malgun Gothic"/>
              </a:rPr>
              <a:t>&gt;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DD9B54-BCEC-4FAB-80FB-1AA8C9DFD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476500"/>
            <a:ext cx="200025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307D8DD-9F9A-4DD9-9B73-3E790D872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724150"/>
            <a:ext cx="1524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저장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CA7BB47-D25B-4E39-865C-E3AB1A49C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162300"/>
            <a:ext cx="14859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CSV 샘플</a:t>
            </a:r>
          </a:p>
          <a:p xmlns:a="http://schemas.openxmlformats.org/drawingml/2006/main">
            <a:pPr algn="l">
              <a:defRPr sz="1200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SQLite 조회 DB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A3DCE99-D013-4AC2-98D4-93D0FAB04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371850"/>
            <a:ext cx="9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A5C"/>
          </a:solidFill>
          <a:ln xmlns:a="http://schemas.openxmlformats.org/drawingml/2006/main" w="0">
            <a:solidFill>
              <a:srgbClr val="147A5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A519DE5-8C65-4E1E-AA86-6B36E3C63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248025"/>
            <a:ext cx="228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47A5C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47A5C"/>
                </a:solidFill>
                <a:latin typeface="Malgun Gothic"/>
                <a:ea typeface="Malgun Gothic"/>
                <a:cs typeface="Malgun Gothic"/>
              </a:rPr>
              <a:t>&gt;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983BD39-22A7-470F-AF44-6AB3BF970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476500"/>
            <a:ext cx="200025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4E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545A7BB-9FD6-4929-B2FE-B04180C21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724150"/>
            <a:ext cx="1524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47A5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47A5C"/>
                </a:solidFill>
                <a:latin typeface="Malgun Gothic"/>
                <a:ea typeface="Malgun Gothic"/>
                <a:cs typeface="Malgun Gothic"/>
              </a:rPr>
              <a:t>서비스 로직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2AA20DC-8805-48EF-89C7-09D430060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162300"/>
            <a:ext cx="14859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price_service</a:t>
            </a:r>
          </a:p>
          <a:p xmlns:a="http://schemas.openxmlformats.org/drawingml/2006/main">
            <a:pPr algn="l">
              <a:defRPr sz="1200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auction_service</a:t>
            </a:r>
          </a:p>
          <a:p xmlns:a="http://schemas.openxmlformats.org/drawingml/2006/main">
            <a:pPr algn="l">
              <a:defRPr sz="1200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market_repository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1D250B0-C57A-4DFC-A37B-42733471A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371850"/>
            <a:ext cx="9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A5C"/>
          </a:solidFill>
          <a:ln xmlns:a="http://schemas.openxmlformats.org/drawingml/2006/main" w="0">
            <a:solidFill>
              <a:srgbClr val="147A5C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6413102-63F8-47BB-B9EA-34C422594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248025"/>
            <a:ext cx="228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47A5C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47A5C"/>
                </a:solidFill>
                <a:latin typeface="Malgun Gothic"/>
                <a:ea typeface="Malgun Gothic"/>
                <a:cs typeface="Malgun Gothic"/>
              </a:rPr>
              <a:t>&gt;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2C24F10-5303-49BE-9114-030B6C24C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476500"/>
            <a:ext cx="200025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82B1D86-3178-46BA-9CF1-3DB58078D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724150"/>
            <a:ext cx="1524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웹 화면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CAE6913-A2BF-4C10-BCD6-BC92420CA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162300"/>
            <a:ext cx="14859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Flask routes</a:t>
            </a:r>
          </a:p>
          <a:p xmlns:a="http://schemas.openxmlformats.org/drawingml/2006/main">
            <a:pPr algn="l">
              <a:defRPr sz="1200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templates</a:t>
            </a:r>
          </a:p>
          <a:p xmlns:a="http://schemas.openxmlformats.org/drawingml/2006/main">
            <a:pPr algn="l">
              <a:defRPr sz="1200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Chart.js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46022F9-D7B1-4075-A7A8-C94C6A154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972050"/>
            <a:ext cx="776287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2A"/>
          </a:solidFill>
          <a:ln xmlns:a="http://schemas.openxmlformats.org/drawingml/2006/main" w="0">
            <a:solidFill>
              <a:srgbClr val="17202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849DCD0-2EEA-4B9C-93FB-A429A4CC8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143500"/>
            <a:ext cx="723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핵심 연결: 수집 데이터 -&gt; SQLite -&gt; 시세 그래프 -&gt; 판매 등록과 구매 입찰 판단</a:t>
            </a:r>
          </a:p>
        </p:txBody>
      </p:sp>
    </p:spTree>
    <p:extLst>
      <p:ext uri="{BB962C8B-B14F-4D97-AF65-F5344CB8AC3E}">
        <p14:creationId xmlns:p14="http://schemas.microsoft.com/office/powerpoint/2010/main" val="115754293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ackground">
            <a:extLst xmlns:a="http://schemas.openxmlformats.org/drawingml/2006/main">
              <a:ext uri="{FF2B5EF4-FFF2-40B4-BE49-F238E27FC236}">
                <a16:creationId xmlns:a16="http://schemas.microsoft.com/office/drawing/2014/main" id="{E1B1989A-0068-4A9E-A757-A4910831E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0">
            <a:solidFill>
              <a:srgbClr val="F4F6F8"/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9A5243D8-CAFC-4339-8418-D848029B0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5775"/>
            <a:ext cx="20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A5C"/>
          </a:solidFill>
          <a:ln xmlns:a="http://schemas.openxmlformats.org/drawingml/2006/main" w="0">
            <a:solidFill>
              <a:srgbClr val="147A5C"/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FA6B5C0E-3EED-4AA8-BC3D-62783702A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8150"/>
            <a:ext cx="2667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47A5C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147A5C"/>
                </a:solidFill>
                <a:latin typeface="Malgun Gothic"/>
                <a:ea typeface="Malgun Gothic"/>
                <a:cs typeface="Malgun Gothic"/>
              </a:rPr>
              <a:t>TEAM &amp; DEMO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2832BF-88CE-4732-A7FC-B602421A9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8667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팀 역할은 데이터 수집, 웹 구현, 발표 시연으로 연결됩니다.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8B78E8-FA41-4F16-9906-E2FD6BB6F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7620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10분 발표에서는 문제 설명보다 시연 흐름과 구현 연결을 명확히 보여주는 것이 중요합니다.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A46D59-5AFF-4847-A513-FE552A941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8650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0">
            <a:solidFill>
              <a:srgbClr val="D9DEE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0A1879-BCE1-4F9E-9218-80CA927B8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723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context/project-brief.md, workflow/review-checklist.md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B40D95-03CE-43CE-AFFF-E404D505B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00800"/>
            <a:ext cx="552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12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57229D-30E7-4F49-9C48-14FB76D72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81250"/>
            <a:ext cx="2238375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2A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BCA395-EC4D-495D-A71C-BD4A29AA7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628900"/>
            <a:ext cx="1238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조장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9DE18D-E538-4222-9DCE-D1E488BA7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28950"/>
            <a:ext cx="1619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DE7E3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DDE7E3"/>
                </a:solidFill>
                <a:latin typeface="Malgun Gothic"/>
                <a:ea typeface="Malgun Gothic"/>
                <a:cs typeface="Malgun Gothic"/>
              </a:rPr>
              <a:t>발표자료 준비</a:t>
            </a:r>
          </a:p>
          <a:p xmlns:a="http://schemas.openxmlformats.org/drawingml/2006/main">
            <a:pPr algn="l">
              <a:defRPr sz="1125" b="0">
                <a:solidFill>
                  <a:srgbClr val="DDE7E3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DDE7E3"/>
                </a:solidFill>
                <a:latin typeface="Malgun Gothic"/>
                <a:ea typeface="Malgun Gothic"/>
                <a:cs typeface="Malgun Gothic"/>
              </a:rPr>
              <a:t>발표</a:t>
            </a:r>
          </a:p>
          <a:p xmlns:a="http://schemas.openxmlformats.org/drawingml/2006/main">
            <a:pPr algn="l">
              <a:defRPr sz="1125" b="0">
                <a:solidFill>
                  <a:srgbClr val="DDE7E3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DDE7E3"/>
                </a:solidFill>
                <a:latin typeface="Malgun Gothic"/>
                <a:ea typeface="Malgun Gothic"/>
                <a:cs typeface="Malgun Gothic"/>
              </a:rPr>
              <a:t>팀원 관리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F4E3CC-C172-4A9A-893B-D244FB1FE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381250"/>
            <a:ext cx="2238375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207E4C-4948-4747-94B6-33716E966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628900"/>
            <a:ext cx="1238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rPr>
              <a:t>팀원 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1A7D70E-7CA1-495D-94E0-C7B545C43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028950"/>
            <a:ext cx="1619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데이터 크롤링</a:t>
            </a:r>
          </a:p>
          <a:p xmlns:a="http://schemas.openxmlformats.org/drawingml/2006/main">
            <a:pPr algn="l">
              <a:defRPr sz="1125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파이썬 코딩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B7B1FBA-C785-4BB6-B584-3A836673B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381250"/>
            <a:ext cx="2238375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9575542-54F5-4483-841A-97FB92B94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628900"/>
            <a:ext cx="1238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rPr>
              <a:t>팀원 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C56D7E1-A21A-4F94-BCD5-9B3CC6C73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028950"/>
            <a:ext cx="1619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데이터 크롤링</a:t>
            </a:r>
          </a:p>
          <a:p xmlns:a="http://schemas.openxmlformats.org/drawingml/2006/main">
            <a:pPr algn="l">
              <a:defRPr sz="1125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파이썬 코딩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B7CEB1A-FBD8-4C08-8210-80B7DB0EE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381250"/>
            <a:ext cx="2238375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4E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71DF66B-1183-4285-B783-6D20D0B56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628900"/>
            <a:ext cx="1238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47A5C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47A5C"/>
                </a:solidFill>
                <a:latin typeface="Malgun Gothic"/>
                <a:ea typeface="Malgun Gothic"/>
                <a:cs typeface="Malgun Gothic"/>
              </a:rPr>
              <a:t>팀원 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D42CD4D-5A29-47CB-93BF-FD836F256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028950"/>
            <a:ext cx="1619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웹사이트 개발</a:t>
            </a:r>
          </a:p>
          <a:p xmlns:a="http://schemas.openxmlformats.org/drawingml/2006/main">
            <a:pPr algn="l">
              <a:defRPr sz="1125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Flask 화면 구현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3AF48C8-D8E0-4C64-8A13-A89CCE7CC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43400"/>
            <a:ext cx="123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시연 순서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B0A6090-2CB4-4C52-ADCF-1A94CAC6B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248150"/>
            <a:ext cx="1238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A501232-C1B8-40C3-8E7F-20111F7DF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4457700"/>
            <a:ext cx="933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메인 화면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DBA8D3A-8F34-4E07-A272-9EF6C099B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4552950"/>
            <a:ext cx="152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A5C"/>
          </a:solidFill>
          <a:ln xmlns:a="http://schemas.openxmlformats.org/drawingml/2006/main" w="0">
            <a:solidFill>
              <a:srgbClr val="147A5C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4E553E7-D5E1-4A11-A6F2-708449E0D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4429125"/>
            <a:ext cx="228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47A5C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47A5C"/>
                </a:solidFill>
                <a:latin typeface="Malgun Gothic"/>
                <a:ea typeface="Malgun Gothic"/>
                <a:cs typeface="Malgun Gothic"/>
              </a:rPr>
              <a:t>&gt;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4A6E40B-E96E-4D5D-9B99-10975A8E0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248150"/>
            <a:ext cx="1238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52DB8E8-F058-4B0F-A216-58161DF28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4457700"/>
            <a:ext cx="933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물품 등록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500780C-27DF-4FBC-8984-A16280597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552950"/>
            <a:ext cx="152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A5C"/>
          </a:solidFill>
          <a:ln xmlns:a="http://schemas.openxmlformats.org/drawingml/2006/main" w="0">
            <a:solidFill>
              <a:srgbClr val="147A5C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FF014BA-7141-4FC6-8C18-7082EF1DB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4429125"/>
            <a:ext cx="228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47A5C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47A5C"/>
                </a:solidFill>
                <a:latin typeface="Malgun Gothic"/>
                <a:ea typeface="Malgun Gothic"/>
                <a:cs typeface="Malgun Gothic"/>
              </a:rPr>
              <a:t>&gt;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3C6E8BC-B499-4ECF-8665-587653634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248150"/>
            <a:ext cx="1238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3AE3F7B-A6E3-43FB-992D-1D5E63B47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4457700"/>
            <a:ext cx="933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입찰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8AD926C-9142-4C31-9217-046CA0F90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552950"/>
            <a:ext cx="152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A5C"/>
          </a:solidFill>
          <a:ln xmlns:a="http://schemas.openxmlformats.org/drawingml/2006/main" w="0">
            <a:solidFill>
              <a:srgbClr val="147A5C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DBAFCF7-F83B-4787-A694-4538305B2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429125"/>
            <a:ext cx="228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47A5C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47A5C"/>
                </a:solidFill>
                <a:latin typeface="Malgun Gothic"/>
                <a:ea typeface="Malgun Gothic"/>
                <a:cs typeface="Malgun Gothic"/>
              </a:rPr>
              <a:t>&gt;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1760BA1-96D3-447A-A04D-26E674404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248150"/>
            <a:ext cx="1238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5607C7A-BD8D-4352-96D3-9D7B7F180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457700"/>
            <a:ext cx="933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낙찰 결과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C9FE583-5671-4915-9B7C-599187C3D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552950"/>
            <a:ext cx="152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A5C"/>
          </a:solidFill>
          <a:ln xmlns:a="http://schemas.openxmlformats.org/drawingml/2006/main" w="0">
            <a:solidFill>
              <a:srgbClr val="147A5C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CD796B5-3A39-4EF4-833F-5065E45C1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429125"/>
            <a:ext cx="228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47A5C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47A5C"/>
                </a:solidFill>
                <a:latin typeface="Malgun Gothic"/>
                <a:ea typeface="Malgun Gothic"/>
                <a:cs typeface="Malgun Gothic"/>
              </a:rPr>
              <a:t>&gt;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1C67FE1-CA05-4381-B7A0-D6E71D183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248150"/>
            <a:ext cx="1238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C57D159-9E71-4C01-887A-DB76982C3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4457700"/>
            <a:ext cx="933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관리자 검수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88647F8-F980-4776-8A0A-B46635C90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219700"/>
            <a:ext cx="8096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FD83A1A-1F02-42B0-AAF3-1B0BFA742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5334000"/>
            <a:ext cx="7524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B45309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B45309"/>
                </a:solidFill>
                <a:latin typeface="Malgun Gothic"/>
                <a:ea typeface="Malgun Gothic"/>
                <a:cs typeface="Malgun Gothic"/>
              </a:rPr>
              <a:t>발표 중 반드시 말할 점: 실제 사이트 실시간 크롤링이 아니라 저장 데이터 기반 시연입니다.</a:t>
            </a:r>
          </a:p>
        </p:txBody>
      </p:sp>
    </p:spTree>
    <p:extLst>
      <p:ext uri="{BB962C8B-B14F-4D97-AF65-F5344CB8AC3E}">
        <p14:creationId xmlns:p14="http://schemas.microsoft.com/office/powerpoint/2010/main" val="108983773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ackground">
            <a:extLst xmlns:a="http://schemas.openxmlformats.org/drawingml/2006/main">
              <a:ext uri="{FF2B5EF4-FFF2-40B4-BE49-F238E27FC236}">
                <a16:creationId xmlns:a16="http://schemas.microsoft.com/office/drawing/2014/main" id="{8380656E-35DB-49E4-A567-DC03B6006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0">
            <a:solidFill>
              <a:srgbClr val="F4F6F8"/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2203BDCB-214F-4CE2-8BC4-02BD44AA5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5775"/>
            <a:ext cx="20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A5C"/>
          </a:solidFill>
          <a:ln xmlns:a="http://schemas.openxmlformats.org/drawingml/2006/main" w="0">
            <a:solidFill>
              <a:srgbClr val="147A5C"/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4E63DCA2-A1E3-49DC-963A-DDB6B36E7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8150"/>
            <a:ext cx="2667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47A5C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147A5C"/>
                </a:solidFill>
                <a:latin typeface="Malgun Gothic"/>
                <a:ea typeface="Malgun Gothic"/>
                <a:cs typeface="Malgun Gothic"/>
              </a:rPr>
              <a:t>LIMITS &amp; NEXT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1F4C37-0FF3-443B-8429-B4FDFF644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8667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정책 확인과 경매 규칙 세부화가 남은 개선 과제입니다.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68CB54-8DDD-4F91-B4B7-BFEB8078D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7620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확정되지 않은 내용은 확인 필요로 두고, 발표에서는 선택지와 기준을 함께 제시합니다.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CE4D71-3F6A-4EFA-9B35-F08A4DB52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8650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0">
            <a:solidFill>
              <a:srgbClr val="D9DEE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583DBE-AA62-4D2D-AFF7-2FE51C3F8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723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context/project-brief.md, workflow/review-checklist.md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5CD96E-2290-4B7C-B55B-9622DFBEB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00800"/>
            <a:ext cx="552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13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719A64-BD0B-4270-8036-4E49E08B4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00300"/>
            <a:ext cx="495300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6A5403-BB15-4315-A7DE-4FC8ECE35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705100"/>
            <a:ext cx="1524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B45309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B45309"/>
                </a:solidFill>
                <a:latin typeface="Malgun Gothic"/>
                <a:ea typeface="Malgun Gothic"/>
                <a:cs typeface="Malgun Gothic"/>
              </a:rPr>
              <a:t>확인 필요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6B9C85-9089-4F2D-B5DD-F61F93AD3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2194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B4530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84C629-53BC-46C1-B597-A9A1C56B9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162300"/>
            <a:ext cx="3714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사이트별 이용약관과 robots.txt 최종 확인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2AA3F0-CDA4-4CC6-88BC-05CD61F80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6195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B4530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DA0B359-34A8-4F88-81A5-FFAF50B03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562350"/>
            <a:ext cx="3714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입찰 단위, 마감 시간, 자동 연장 여부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D049800-20D9-4A46-9A40-D6032763C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0195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B4530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4A63689-66FE-4AE4-9D3E-D5E925481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962400"/>
            <a:ext cx="3714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최종 수집 카테고리와 대표 상품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73C4FE8-E389-439D-BA3C-0AAE30911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4196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B45309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8FC1DDD-632A-44B3-9951-C2F300B5F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362450"/>
            <a:ext cx="3714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서비스 이름, 로고, 대표 색상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B7A8E0E-3298-4772-849F-1A533FAED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400300"/>
            <a:ext cx="476250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4E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A3048D6-3DD6-4491-BD07-98A3C651D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705100"/>
            <a:ext cx="1524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F5F4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0F5F48"/>
                </a:solidFill>
                <a:latin typeface="Malgun Gothic"/>
                <a:ea typeface="Malgun Gothic"/>
                <a:cs typeface="Malgun Gothic"/>
              </a:rPr>
              <a:t>개선 방향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0C1CF2D-763C-40AA-B616-624B039D3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2194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A5C"/>
          </a:solidFill>
          <a:ln xmlns:a="http://schemas.openxmlformats.org/drawingml/2006/main" w="0">
            <a:solidFill>
              <a:srgbClr val="147A5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60D1C78-BA96-42E8-8FE9-02C5FAA68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162300"/>
            <a:ext cx="3524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상품 묶기 기준을 더 세밀하게 조정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F26EAA4-CC8F-4A93-AFC1-3698E1F28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6195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A5C"/>
          </a:solidFill>
          <a:ln xmlns:a="http://schemas.openxmlformats.org/drawingml/2006/main" w="0">
            <a:solidFill>
              <a:srgbClr val="147A5C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6D39A69-F7CA-4CDC-B002-8B8937CE0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562350"/>
            <a:ext cx="3524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데이터 부족 상품의 안내 기준 강화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27F3BBC-914F-4655-B625-845C9FC27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0195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A5C"/>
          </a:solidFill>
          <a:ln xmlns:a="http://schemas.openxmlformats.org/drawingml/2006/main" w="0">
            <a:solidFill>
              <a:srgbClr val="147A5C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7F0D2B4-49CC-4834-8156-871E24FF6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962400"/>
            <a:ext cx="3524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관리자 검수 상태를 더 명확한 단계로 분리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7D32162-AF96-4821-BD5D-63AD95ABD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4196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A5C"/>
          </a:solidFill>
          <a:ln xmlns:a="http://schemas.openxmlformats.org/drawingml/2006/main" w="0">
            <a:solidFill>
              <a:srgbClr val="147A5C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C4588FF-C1C2-4DAF-8B5C-7954BB792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362450"/>
            <a:ext cx="3524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정책상 허용되는 수집 방식만 최종 반영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46BDCB4-7BA6-4EA0-9AF0-A00B18F4B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5467350"/>
            <a:ext cx="8858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2A"/>
          </a:solidFill>
          <a:ln xmlns:a="http://schemas.openxmlformats.org/drawingml/2006/main" w="0">
            <a:solidFill>
              <a:srgbClr val="17202A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49F3363-4F80-4E66-8FC7-FC07E5C30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619750"/>
            <a:ext cx="800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마무리: 가격 데이터를 경매 흐름 안에 넣어 판매자와 구매자의 판단을 돕습니다.</a:t>
            </a:r>
          </a:p>
        </p:txBody>
      </p:sp>
    </p:spTree>
    <p:extLst>
      <p:ext uri="{BB962C8B-B14F-4D97-AF65-F5344CB8AC3E}">
        <p14:creationId xmlns:p14="http://schemas.microsoft.com/office/powerpoint/2010/main" val="188899452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2026-05-29T08:33:11.6670000Z</dcterms:created>
  <dcterms:modified xsi:type="dcterms:W3CDTF">2026-05-29T08:33:11.6670000Z</dcterms:modified>
</coreProperties>
</file>